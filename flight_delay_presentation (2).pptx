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 Missing</c:v>
                </c:pt>
              </c:strCache>
            </c:strRef>
          </c:tx>
          <c:spPr>
            <a:solidFill>
              <a:srgbClr val="1C7293"/>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32434"/>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Sheet1!$A$2:$A$8</c:f>
              <c:strCache>
                <c:ptCount val="7"/>
                <c:pt idx="0">
                  <c:v>CANCELLATION
CODE</c:v>
                </c:pt>
                <c:pt idx="1">
                  <c:v>ACTUAL_ELAPSED
TIME</c:v>
                </c:pt>
                <c:pt idx="2">
                  <c:v>ARR_DEL15</c:v>
                </c:pt>
                <c:pt idx="3">
                  <c:v>ARR_DELAY</c:v>
                </c:pt>
                <c:pt idx="4">
                  <c:v>TAXI_OUT</c:v>
                </c:pt>
                <c:pt idx="5">
                  <c:v>DEP_DELAY /
DEP_DEL15</c:v>
                </c:pt>
                <c:pt idx="6">
                  <c:v>TAIL_NUM</c:v>
                </c:pt>
              </c:strCache>
            </c:strRef>
          </c:cat>
          <c:val>
            <c:numRef>
              <c:f>Sheet1!$B$2:$B$8</c:f>
              <c:numCache>
                <c:formatCode>General</c:formatCode>
                <c:ptCount val="7"/>
                <c:pt idx="0">
                  <c:v>95.29</c:v>
                </c:pt>
                <c:pt idx="1">
                  <c:v>4.92</c:v>
                </c:pt>
                <c:pt idx="2">
                  <c:v>4.92</c:v>
                </c:pt>
                <c:pt idx="3">
                  <c:v>4.92</c:v>
                </c:pt>
                <c:pt idx="4">
                  <c:v>4.69</c:v>
                </c:pt>
                <c:pt idx="5">
                  <c:v>4.64</c:v>
                </c:pt>
                <c:pt idx="6">
                  <c:v>0.85</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5B7285"/>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E5EBF0"/>
              </a:solidFill>
              <a:prstDash val="solid"/>
              <a:round/>
            </a:ln>
          </c:spPr>
        </c:majorGridlines>
        <c:title>
          <c:tx>
            <c:rich>
              <a:bodyPr rot="-5400000" spcFirstLastPara="0" vertOverflow="ellipsis" vert="horz" wrap="square" anchor="ctr" anchorCtr="1"/>
              <a:lstStyle/>
              <a:p>
                <a:pPr>
                  <a:defRPr lang="en-US" sz="900" b="0" i="0" u="none" strike="noStrike" kern="1200" baseline="0">
                    <a:solidFill>
                      <a:srgbClr val="5B7285"/>
                    </a:solidFill>
                    <a:latin typeface="Arial" panose="020B0604020202020204"/>
                    <a:ea typeface="+mn-ea"/>
                    <a:cs typeface="+mn-cs"/>
                  </a:defRPr>
                </a:pPr>
                <a:r>
                  <a:rPr sz="900" b="0" i="0" u="none" strike="noStrike">
                    <a:solidFill>
                      <a:srgbClr val="5B7285"/>
                    </a:solidFill>
                    <a:latin typeface="Arial" panose="020B0604020202020204"/>
                  </a:rPr>
                  <a:t>% Missing</a:t>
                </a:r>
                <a:endParaRPr sz="900" b="0" i="0" u="none" strike="noStrike">
                  <a:solidFill>
                    <a:srgbClr val="5B7285"/>
                  </a:solidFill>
                  <a:latin typeface="Arial" panose="020B0604020202020204"/>
                </a:endParaRPr>
              </a:p>
            </c:rich>
          </c:tx>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7285"/>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6b53d16-3865-49ed-837b-50ce42dcb62f}"/>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Logistic Regression</c:v>
                </c:pt>
              </c:strCache>
            </c:strRef>
          </c:tx>
          <c:spPr>
            <a:solidFill>
              <a:srgbClr val="0E3A66"/>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Sheet1!$A$2:$A$5</c:f>
              <c:strCache>
                <c:ptCount val="4"/>
                <c:pt idx="0">
                  <c:v>Accuracy</c:v>
                </c:pt>
                <c:pt idx="1">
                  <c:v>Precision</c:v>
                </c:pt>
                <c:pt idx="2">
                  <c:v>Recall</c:v>
                </c:pt>
                <c:pt idx="3">
                  <c:v>F1-Score</c:v>
                </c:pt>
              </c:strCache>
            </c:strRef>
          </c:cat>
          <c:val>
            <c:numRef>
              <c:f>Sheet1!$B$2:$B$5</c:f>
              <c:numCache>
                <c:formatCode>General</c:formatCode>
                <c:ptCount val="4"/>
                <c:pt idx="0">
                  <c:v>0.9219</c:v>
                </c:pt>
                <c:pt idx="1">
                  <c:v>0.8903</c:v>
                </c:pt>
                <c:pt idx="2">
                  <c:v>0.711</c:v>
                </c:pt>
                <c:pt idx="3">
                  <c:v>0.7906</c:v>
                </c:pt>
              </c:numCache>
            </c:numRef>
          </c:val>
        </c:ser>
        <c:ser>
          <c:idx val="1"/>
          <c:order val="1"/>
          <c:tx>
            <c:strRef>
              <c:f>Sheet1!$C$1</c:f>
              <c:strCache>
                <c:ptCount val="1"/>
                <c:pt idx="0">
                  <c:v>Decision Tree</c:v>
                </c:pt>
              </c:strCache>
            </c:strRef>
          </c:tx>
          <c:spPr>
            <a:solidFill>
              <a:srgbClr val="F5A623"/>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Sheet1!$A$2:$A$5</c:f>
              <c:strCache>
                <c:ptCount val="4"/>
                <c:pt idx="0">
                  <c:v>Accuracy</c:v>
                </c:pt>
                <c:pt idx="1">
                  <c:v>Precision</c:v>
                </c:pt>
                <c:pt idx="2">
                  <c:v>Recall</c:v>
                </c:pt>
                <c:pt idx="3">
                  <c:v>F1-Score</c:v>
                </c:pt>
              </c:strCache>
            </c:strRef>
          </c:cat>
          <c:val>
            <c:numRef>
              <c:f>Sheet1!$C$2:$C$5</c:f>
              <c:numCache>
                <c:formatCode>General</c:formatCode>
                <c:ptCount val="4"/>
                <c:pt idx="0">
                  <c:v>0.9222</c:v>
                </c:pt>
                <c:pt idx="1">
                  <c:v>0.9057</c:v>
                </c:pt>
                <c:pt idx="2">
                  <c:v>0.6974</c:v>
                </c:pt>
                <c:pt idx="3">
                  <c:v>0.788</c:v>
                </c:pt>
              </c:numCache>
            </c:numRef>
          </c:val>
        </c:ser>
        <c:dLbls>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majorTickMark val="out"/>
        <c:minorTickMark val="none"/>
        <c:tickLblPos val="nextTo"/>
        <c:txPr>
          <a:bodyPr rot="-60000000" spcFirstLastPara="0" vertOverflow="ellipsis" vert="horz" wrap="square" anchor="ctr" anchorCtr="1"/>
          <a:lstStyle/>
          <a:p>
            <a:pPr>
              <a:defRPr lang="en-US" sz="950" b="0" i="0" u="none" strike="noStrike" kern="1200" baseline="0">
                <a:solidFill>
                  <a:srgbClr val="5B7285"/>
                </a:solidFill>
                <a:latin typeface="+mn-lt"/>
                <a:ea typeface="+mn-ea"/>
                <a:cs typeface="+mn-cs"/>
              </a:defRPr>
            </a:pPr>
          </a:p>
        </c:txPr>
        <c:crossAx val="-2113994440"/>
        <c:crosses val="autoZero"/>
        <c:auto val="1"/>
        <c:lblAlgn val="ctr"/>
        <c:lblOffset val="100"/>
        <c:noMultiLvlLbl val="0"/>
      </c:catAx>
      <c:valAx>
        <c:axId val="-2113994440"/>
        <c:scaling>
          <c:orientation val="minMax"/>
          <c:max val="1"/>
          <c:min val="0"/>
        </c:scaling>
        <c:delete val="0"/>
        <c:axPos val="l"/>
        <c:majorTickMark val="out"/>
        <c:minorTickMark val="none"/>
        <c:tickLblPos val="nextTo"/>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2068027336"/>
        <c:crosses val="autoZero"/>
        <c:crossBetween val="between"/>
      </c:valAx>
    </c:plotArea>
    <c:legend>
      <c:legendPos val="b"/>
      <c:layout/>
      <c:overlay val="0"/>
      <c:txPr>
        <a:bodyPr rot="0" spcFirstLastPara="0" vertOverflow="ellipsis" vert="horz" wrap="square" anchor="ctr" anchorCtr="1"/>
        <a:lstStyle/>
        <a:p>
          <a:pPr>
            <a:defRPr lang="en-US" sz="900" b="0" i="0" u="none" strike="noStrike" kern="1200" baseline="0">
              <a:solidFill>
                <a:srgbClr val="5B7285"/>
              </a:solidFill>
              <a:latin typeface="+mn-lt"/>
              <a:ea typeface="+mn-ea"/>
              <a:cs typeface="+mn-cs"/>
            </a:defRPr>
          </a:pPr>
        </a:p>
      </c:txPr>
    </c:legend>
    <c:plotVisOnly val="1"/>
    <c:dispBlanksAs val="gap"/>
    <c:showDLblsOverMax val="0"/>
    <c:extLst>
      <c:ext uri="{0b15fc19-7d7d-44ad-8c2d-2c3a37ce22c3}">
        <chartProps xmlns="https://web.wps.cn/et/2018/main" chartId="{35ad0d1e-2873-4205-920b-73c0b3e2e26f}"/>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8.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2" Type="http://schemas.openxmlformats.org/officeDocument/2006/relationships/notesSlide" Target="../notesSlides/notesSlide5.xml"/><Relationship Id="rId11" Type="http://schemas.openxmlformats.org/officeDocument/2006/relationships/slideLayout" Target="../slideLayouts/slideLayout1.xml"/><Relationship Id="rId10" Type="http://schemas.openxmlformats.org/officeDocument/2006/relationships/image" Target="../media/image2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chart" Target="../charts/chart2.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3" name="Shape 1"/>
          <p:cNvSpPr/>
          <p:nvPr/>
        </p:nvSpPr>
        <p:spPr>
          <a:xfrm>
            <a:off x="9281160" y="91440"/>
            <a:ext cx="2651760" cy="2651760"/>
          </a:xfrm>
          <a:prstGeom prst="ellipse">
            <a:avLst/>
          </a:prstGeom>
          <a:ln w="12700">
            <a:solidFill>
              <a:srgbClr val="1C7293">
                <a:alpha val="65000"/>
              </a:srgbClr>
            </a:solidFill>
            <a:prstDash val="solid"/>
          </a:ln>
        </p:spPr>
      </p:sp>
      <p:sp>
        <p:nvSpPr>
          <p:cNvPr id="4" name="Shape 2"/>
          <p:cNvSpPr/>
          <p:nvPr/>
        </p:nvSpPr>
        <p:spPr>
          <a:xfrm>
            <a:off x="9692640" y="502920"/>
            <a:ext cx="1828800" cy="1828800"/>
          </a:xfrm>
          <a:prstGeom prst="ellipse">
            <a:avLst/>
          </a:prstGeom>
          <a:ln w="12700">
            <a:solidFill>
              <a:srgbClr val="1C7293">
                <a:alpha val="65000"/>
              </a:srgbClr>
            </a:solidFill>
            <a:prstDash val="solid"/>
          </a:ln>
        </p:spPr>
      </p:sp>
      <p:pic>
        <p:nvPicPr>
          <p:cNvPr id="5" name="Image 0" descr="preencoded.png"/>
          <p:cNvPicPr>
            <a:picLocks noChangeAspect="1"/>
          </p:cNvPicPr>
          <p:nvPr/>
        </p:nvPicPr>
        <p:blipFill>
          <a:blip r:embed="rId1">
            <a:alphaModFix amt="80000"/>
          </a:blip>
          <a:stretch>
            <a:fillRect/>
          </a:stretch>
        </p:blipFill>
        <p:spPr>
          <a:xfrm>
            <a:off x="457200" y="411480"/>
            <a:ext cx="822960" cy="566928"/>
          </a:xfrm>
          <a:prstGeom prst="rect">
            <a:avLst/>
          </a:prstGeom>
        </p:spPr>
      </p:pic>
      <p:pic>
        <p:nvPicPr>
          <p:cNvPr id="6" name="Image 1" descr="preencoded.png"/>
          <p:cNvPicPr>
            <a:picLocks noChangeAspect="1"/>
          </p:cNvPicPr>
          <p:nvPr/>
        </p:nvPicPr>
        <p:blipFill>
          <a:blip r:embed="rId1">
            <a:alphaModFix amt="65000"/>
          </a:blip>
          <a:stretch>
            <a:fillRect/>
          </a:stretch>
        </p:blipFill>
        <p:spPr>
          <a:xfrm>
            <a:off x="9326880" y="5212080"/>
            <a:ext cx="1005840" cy="685800"/>
          </a:xfrm>
          <a:prstGeom prst="rect">
            <a:avLst/>
          </a:prstGeom>
        </p:spPr>
      </p:pic>
      <p:pic>
        <p:nvPicPr>
          <p:cNvPr id="7" name="Image 2" descr="preencoded.png"/>
          <p:cNvPicPr>
            <a:picLocks noChangeAspect="1"/>
          </p:cNvPicPr>
          <p:nvPr/>
        </p:nvPicPr>
        <p:blipFill>
          <a:blip r:embed="rId2"/>
          <a:stretch>
            <a:fillRect/>
          </a:stretch>
        </p:blipFill>
        <p:spPr>
          <a:xfrm rot="2700000">
            <a:off x="10104120" y="914400"/>
            <a:ext cx="1005840" cy="1005840"/>
          </a:xfrm>
          <a:prstGeom prst="rect">
            <a:avLst/>
          </a:prstGeom>
        </p:spPr>
      </p:pic>
      <p:sp>
        <p:nvSpPr>
          <p:cNvPr id="8" name="Text 3"/>
          <p:cNvSpPr/>
          <p:nvPr/>
        </p:nvSpPr>
        <p:spPr>
          <a:xfrm>
            <a:off x="640080" y="1371600"/>
            <a:ext cx="8778240" cy="1554480"/>
          </a:xfrm>
          <a:prstGeom prst="rect">
            <a:avLst/>
          </a:prstGeom>
          <a:noFill/>
        </p:spPr>
        <p:txBody>
          <a:bodyPr wrap="square" rtlCol="0" anchor="t"/>
          <a:lstStyle/>
          <a:p>
            <a:pPr marL="0" indent="0" algn="l">
              <a:lnSpc>
                <a:spcPct val="105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Airline Flight Delay Prediction</a:t>
            </a:r>
            <a:endParaRPr lang="en-US" sz="3800" dirty="0"/>
          </a:p>
          <a:p>
            <a:pPr marL="0" indent="0" algn="l">
              <a:lnSpc>
                <a:spcPct val="105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&amp; Analysis</a:t>
            </a:r>
            <a:endParaRPr lang="en-US" sz="3800" dirty="0"/>
          </a:p>
        </p:txBody>
      </p:sp>
      <p:sp>
        <p:nvSpPr>
          <p:cNvPr id="9" name="Text 4"/>
          <p:cNvSpPr/>
          <p:nvPr/>
        </p:nvSpPr>
        <p:spPr>
          <a:xfrm>
            <a:off x="640080" y="2971800"/>
            <a:ext cx="7863840" cy="914400"/>
          </a:xfrm>
          <a:prstGeom prst="rect">
            <a:avLst/>
          </a:prstGeom>
          <a:noFill/>
        </p:spPr>
        <p:txBody>
          <a:bodyPr wrap="square" rtlCol="0" anchor="t"/>
          <a:lstStyle/>
          <a:p>
            <a:pPr marL="0" indent="0" algn="l">
              <a:lnSpc>
                <a:spcPct val="115000"/>
              </a:lnSpc>
              <a:buNone/>
            </a:pPr>
            <a:r>
              <a:rPr lang="en-US" sz="1500" dirty="0">
                <a:solidFill>
                  <a:srgbClr val="CFE8F3"/>
                </a:solidFill>
                <a:latin typeface="Calibri" panose="020F0502020204030204" pitchFamily="34" charset="0"/>
                <a:ea typeface="Calibri" panose="020F0502020204030204" pitchFamily="34" charset="-122"/>
                <a:cs typeface="Calibri" panose="020F0502020204030204" pitchFamily="34" charset="-120"/>
              </a:rPr>
              <a:t>A data-driven study of the T_ONTIME_REPORTING flight dataset (544,003 flights) to uncover what drives arrival delays and to build a classification model that predicts whether an operating flight will land 15+ minutes behind schedule.</a:t>
            </a:r>
            <a:endParaRPr lang="en-US" sz="1500" dirty="0"/>
          </a:p>
        </p:txBody>
      </p:sp>
      <p:sp>
        <p:nvSpPr>
          <p:cNvPr id="10" name="Text 5"/>
          <p:cNvSpPr/>
          <p:nvPr/>
        </p:nvSpPr>
        <p:spPr>
          <a:xfrm>
            <a:off x="640080" y="3913632"/>
            <a:ext cx="8961120" cy="320040"/>
          </a:xfrm>
          <a:prstGeom prst="rect">
            <a:avLst/>
          </a:prstGeom>
          <a:noFill/>
        </p:spPr>
        <p:txBody>
          <a:bodyPr wrap="square" rtlCol="0" anchor="t"/>
          <a:lstStyle/>
          <a:p>
            <a:pPr marL="0" indent="0" algn="l">
              <a:buNone/>
            </a:pPr>
            <a:r>
              <a:rPr lang="en-US" sz="1050" i="1" dirty="0">
                <a:solidFill>
                  <a:srgbClr val="9FB7CB"/>
                </a:solidFill>
                <a:latin typeface="Calibri" panose="020F0502020204030204" pitchFamily="34" charset="0"/>
                <a:ea typeface="Calibri" panose="020F0502020204030204" pitchFamily="34" charset="-122"/>
                <a:cs typeface="Calibri" panose="020F0502020204030204" pitchFamily="34" charset="-120"/>
              </a:rPr>
              <a:t>Track: Advanced Data Analysis   |   Initiative: NTI   |   Date: 12 Sept 2026   |   Supervisor: Eng. Huda Hemdan</a:t>
            </a:r>
            <a:endParaRPr lang="en-US" sz="1050" dirty="0"/>
          </a:p>
        </p:txBody>
      </p:sp>
      <p:sp>
        <p:nvSpPr>
          <p:cNvPr id="11" name="Text 6"/>
          <p:cNvSpPr/>
          <p:nvPr/>
        </p:nvSpPr>
        <p:spPr>
          <a:xfrm>
            <a:off x="640080" y="4526280"/>
            <a:ext cx="2743200" cy="274320"/>
          </a:xfrm>
          <a:prstGeom prst="rect">
            <a:avLst/>
          </a:prstGeom>
          <a:noFill/>
        </p:spPr>
        <p:txBody>
          <a:bodyPr wrap="square" rtlCol="0" anchor="ctr"/>
          <a:lstStyle/>
          <a:p>
            <a:pPr marL="0" indent="0">
              <a:buNone/>
            </a:pPr>
            <a:r>
              <a:rPr lang="en-US" sz="1100" b="1" kern="0" spc="200" dirty="0">
                <a:solidFill>
                  <a:srgbClr val="F5A623"/>
                </a:solidFill>
                <a:latin typeface="Calibri" panose="020F0502020204030204" pitchFamily="34" charset="0"/>
                <a:ea typeface="Calibri" panose="020F0502020204030204" pitchFamily="34" charset="-122"/>
                <a:cs typeface="Calibri" panose="020F0502020204030204" pitchFamily="34" charset="-120"/>
              </a:rPr>
              <a:t>TEAM</a:t>
            </a:r>
            <a:endParaRPr lang="en-US" sz="1100" dirty="0"/>
          </a:p>
        </p:txBody>
      </p:sp>
      <p:sp>
        <p:nvSpPr>
          <p:cNvPr id="12" name="Shape 7"/>
          <p:cNvSpPr/>
          <p:nvPr/>
        </p:nvSpPr>
        <p:spPr>
          <a:xfrm>
            <a:off x="682600" y="4892040"/>
            <a:ext cx="2514600" cy="1325880"/>
          </a:xfrm>
          <a:prstGeom prst="roundRect">
            <a:avLst>
              <a:gd name="adj" fmla="val 8276"/>
            </a:avLst>
          </a:prstGeom>
          <a:solidFill>
            <a:srgbClr val="11294D"/>
          </a:solidFill>
          <a:ln w="12700">
            <a:solidFill>
              <a:srgbClr val="1E4A7A"/>
            </a:solidFill>
            <a:prstDash val="solid"/>
          </a:ln>
        </p:spPr>
      </p:sp>
      <p:sp>
        <p:nvSpPr>
          <p:cNvPr id="13" name="Shape 8"/>
          <p:cNvSpPr/>
          <p:nvPr/>
        </p:nvSpPr>
        <p:spPr>
          <a:xfrm>
            <a:off x="1629004" y="5056632"/>
            <a:ext cx="621792" cy="621792"/>
          </a:xfrm>
          <a:prstGeom prst="ellipse">
            <a:avLst/>
          </a:prstGeom>
          <a:solidFill>
            <a:srgbClr val="F5A623"/>
          </a:solidFill>
        </p:spPr>
      </p:sp>
      <p:pic>
        <p:nvPicPr>
          <p:cNvPr id="14" name="Image 3" descr="preencoded.png"/>
          <p:cNvPicPr>
            <a:picLocks noChangeAspect="1"/>
          </p:cNvPicPr>
          <p:nvPr/>
        </p:nvPicPr>
        <p:blipFill>
          <a:blip r:embed="rId3"/>
          <a:stretch>
            <a:fillRect/>
          </a:stretch>
        </p:blipFill>
        <p:spPr>
          <a:xfrm>
            <a:off x="1766164" y="5193792"/>
            <a:ext cx="347472" cy="347472"/>
          </a:xfrm>
          <a:prstGeom prst="rect">
            <a:avLst/>
          </a:prstGeom>
        </p:spPr>
      </p:pic>
      <p:sp>
        <p:nvSpPr>
          <p:cNvPr id="15" name="Text 9"/>
          <p:cNvSpPr/>
          <p:nvPr/>
        </p:nvSpPr>
        <p:spPr>
          <a:xfrm>
            <a:off x="755752" y="5733288"/>
            <a:ext cx="2368296" cy="411480"/>
          </a:xfrm>
          <a:prstGeom prst="rect">
            <a:avLst/>
          </a:prstGeom>
          <a:noFill/>
        </p:spPr>
        <p:txBody>
          <a:bodyPr wrap="square" rtlCol="0" anchor="t"/>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Mohand Yasser</a:t>
            </a:r>
            <a:endParaRPr lang="en-US" sz="1250" dirty="0"/>
          </a:p>
        </p:txBody>
      </p:sp>
      <p:sp>
        <p:nvSpPr>
          <p:cNvPr id="16" name="Shape 10"/>
          <p:cNvSpPr/>
          <p:nvPr/>
        </p:nvSpPr>
        <p:spPr>
          <a:xfrm>
            <a:off x="3453232" y="4892040"/>
            <a:ext cx="2514600" cy="1325880"/>
          </a:xfrm>
          <a:prstGeom prst="roundRect">
            <a:avLst>
              <a:gd name="adj" fmla="val 8276"/>
            </a:avLst>
          </a:prstGeom>
          <a:solidFill>
            <a:srgbClr val="11294D"/>
          </a:solidFill>
          <a:ln w="12700">
            <a:solidFill>
              <a:srgbClr val="1E4A7A"/>
            </a:solidFill>
            <a:prstDash val="solid"/>
          </a:ln>
        </p:spPr>
      </p:sp>
      <p:sp>
        <p:nvSpPr>
          <p:cNvPr id="17" name="Shape 11"/>
          <p:cNvSpPr/>
          <p:nvPr/>
        </p:nvSpPr>
        <p:spPr>
          <a:xfrm>
            <a:off x="4399636" y="5056632"/>
            <a:ext cx="621792" cy="621792"/>
          </a:xfrm>
          <a:prstGeom prst="ellipse">
            <a:avLst/>
          </a:prstGeom>
          <a:solidFill>
            <a:srgbClr val="F5A623"/>
          </a:solidFill>
        </p:spPr>
      </p:sp>
      <p:pic>
        <p:nvPicPr>
          <p:cNvPr id="18" name="Image 4" descr="preencoded.png"/>
          <p:cNvPicPr>
            <a:picLocks noChangeAspect="1"/>
          </p:cNvPicPr>
          <p:nvPr/>
        </p:nvPicPr>
        <p:blipFill>
          <a:blip r:embed="rId3"/>
          <a:stretch>
            <a:fillRect/>
          </a:stretch>
        </p:blipFill>
        <p:spPr>
          <a:xfrm>
            <a:off x="4536796" y="5193792"/>
            <a:ext cx="347472" cy="347472"/>
          </a:xfrm>
          <a:prstGeom prst="rect">
            <a:avLst/>
          </a:prstGeom>
        </p:spPr>
      </p:pic>
      <p:sp>
        <p:nvSpPr>
          <p:cNvPr id="19" name="Text 12"/>
          <p:cNvSpPr/>
          <p:nvPr/>
        </p:nvSpPr>
        <p:spPr>
          <a:xfrm>
            <a:off x="3526384" y="5733288"/>
            <a:ext cx="2368296" cy="411480"/>
          </a:xfrm>
          <a:prstGeom prst="rect">
            <a:avLst/>
          </a:prstGeom>
          <a:noFill/>
        </p:spPr>
        <p:txBody>
          <a:bodyPr wrap="square" rtlCol="0" anchor="t"/>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Abdelrahman Ashraf</a:t>
            </a:r>
            <a:endParaRPr lang="en-US" sz="1250" dirty="0"/>
          </a:p>
        </p:txBody>
      </p:sp>
      <p:sp>
        <p:nvSpPr>
          <p:cNvPr id="20" name="Shape 13"/>
          <p:cNvSpPr/>
          <p:nvPr/>
        </p:nvSpPr>
        <p:spPr>
          <a:xfrm>
            <a:off x="6223864" y="4892040"/>
            <a:ext cx="2514600" cy="1325880"/>
          </a:xfrm>
          <a:prstGeom prst="roundRect">
            <a:avLst>
              <a:gd name="adj" fmla="val 8276"/>
            </a:avLst>
          </a:prstGeom>
          <a:solidFill>
            <a:srgbClr val="11294D"/>
          </a:solidFill>
          <a:ln w="12700">
            <a:solidFill>
              <a:srgbClr val="1E4A7A"/>
            </a:solidFill>
            <a:prstDash val="solid"/>
          </a:ln>
        </p:spPr>
      </p:sp>
      <p:sp>
        <p:nvSpPr>
          <p:cNvPr id="21" name="Shape 14"/>
          <p:cNvSpPr/>
          <p:nvPr/>
        </p:nvSpPr>
        <p:spPr>
          <a:xfrm>
            <a:off x="7170268" y="5056632"/>
            <a:ext cx="621792" cy="621792"/>
          </a:xfrm>
          <a:prstGeom prst="ellipse">
            <a:avLst/>
          </a:prstGeom>
          <a:solidFill>
            <a:srgbClr val="F5A623"/>
          </a:solidFill>
        </p:spPr>
      </p:sp>
      <p:pic>
        <p:nvPicPr>
          <p:cNvPr id="22" name="Image 5" descr="preencoded.png"/>
          <p:cNvPicPr>
            <a:picLocks noChangeAspect="1"/>
          </p:cNvPicPr>
          <p:nvPr/>
        </p:nvPicPr>
        <p:blipFill>
          <a:blip r:embed="rId3"/>
          <a:stretch>
            <a:fillRect/>
          </a:stretch>
        </p:blipFill>
        <p:spPr>
          <a:xfrm>
            <a:off x="7307428" y="5193792"/>
            <a:ext cx="347472" cy="347472"/>
          </a:xfrm>
          <a:prstGeom prst="rect">
            <a:avLst/>
          </a:prstGeom>
        </p:spPr>
      </p:pic>
      <p:sp>
        <p:nvSpPr>
          <p:cNvPr id="23" name="Text 15"/>
          <p:cNvSpPr/>
          <p:nvPr/>
        </p:nvSpPr>
        <p:spPr>
          <a:xfrm>
            <a:off x="6297016" y="5733288"/>
            <a:ext cx="2368296" cy="411480"/>
          </a:xfrm>
          <a:prstGeom prst="rect">
            <a:avLst/>
          </a:prstGeom>
          <a:noFill/>
        </p:spPr>
        <p:txBody>
          <a:bodyPr wrap="square" rtlCol="0" anchor="t"/>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Bassel Deghady</a:t>
            </a:r>
            <a:endParaRPr lang="en-US" sz="1250" dirty="0"/>
          </a:p>
        </p:txBody>
      </p:sp>
      <p:sp>
        <p:nvSpPr>
          <p:cNvPr id="24" name="Shape 16"/>
          <p:cNvSpPr/>
          <p:nvPr/>
        </p:nvSpPr>
        <p:spPr>
          <a:xfrm>
            <a:off x="8994496" y="4892040"/>
            <a:ext cx="2514600" cy="1325880"/>
          </a:xfrm>
          <a:prstGeom prst="roundRect">
            <a:avLst>
              <a:gd name="adj" fmla="val 8276"/>
            </a:avLst>
          </a:prstGeom>
          <a:solidFill>
            <a:srgbClr val="11294D"/>
          </a:solidFill>
          <a:ln w="12700">
            <a:solidFill>
              <a:srgbClr val="1E4A7A"/>
            </a:solidFill>
            <a:prstDash val="solid"/>
          </a:ln>
        </p:spPr>
      </p:sp>
      <p:sp>
        <p:nvSpPr>
          <p:cNvPr id="25" name="Shape 17"/>
          <p:cNvSpPr/>
          <p:nvPr/>
        </p:nvSpPr>
        <p:spPr>
          <a:xfrm>
            <a:off x="9940900" y="5056632"/>
            <a:ext cx="621792" cy="621792"/>
          </a:xfrm>
          <a:prstGeom prst="ellipse">
            <a:avLst/>
          </a:prstGeom>
          <a:solidFill>
            <a:srgbClr val="F5A623"/>
          </a:solidFill>
        </p:spPr>
      </p:sp>
      <p:pic>
        <p:nvPicPr>
          <p:cNvPr id="26" name="Image 6" descr="preencoded.png"/>
          <p:cNvPicPr>
            <a:picLocks noChangeAspect="1"/>
          </p:cNvPicPr>
          <p:nvPr/>
        </p:nvPicPr>
        <p:blipFill>
          <a:blip r:embed="rId3"/>
          <a:stretch>
            <a:fillRect/>
          </a:stretch>
        </p:blipFill>
        <p:spPr>
          <a:xfrm>
            <a:off x="10078060" y="5193792"/>
            <a:ext cx="347472" cy="347472"/>
          </a:xfrm>
          <a:prstGeom prst="rect">
            <a:avLst/>
          </a:prstGeom>
        </p:spPr>
      </p:pic>
      <p:sp>
        <p:nvSpPr>
          <p:cNvPr id="27" name="Text 18"/>
          <p:cNvSpPr/>
          <p:nvPr/>
        </p:nvSpPr>
        <p:spPr>
          <a:xfrm>
            <a:off x="9067648" y="5733288"/>
            <a:ext cx="2368296" cy="411480"/>
          </a:xfrm>
          <a:prstGeom prst="rect">
            <a:avLst/>
          </a:prstGeom>
          <a:noFill/>
        </p:spPr>
        <p:txBody>
          <a:bodyPr wrap="square" rtlCol="0" anchor="t"/>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Joseph Hossam</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 0"/>
          <p:cNvSpPr/>
          <p:nvPr/>
        </p:nvSpPr>
        <p:spPr>
          <a:xfrm>
            <a:off x="1234440" y="438912"/>
            <a:ext cx="7315200" cy="594360"/>
          </a:xfrm>
          <a:prstGeom prst="rect">
            <a:avLst/>
          </a:prstGeom>
          <a:noFill/>
        </p:spPr>
        <p:txBody>
          <a:bodyPr wrap="square" rtlCol="0" anchor="ctr"/>
          <a:lstStyle/>
          <a:p>
            <a:pPr marL="0" indent="0" algn="l">
              <a:buNone/>
            </a:pPr>
            <a:r>
              <a:rPr lang="en-US" sz="3000" b="1" dirty="0">
                <a:solidFill>
                  <a:srgbClr val="0A1F44"/>
                </a:solidFill>
                <a:latin typeface="Cambria" panose="02040503050406030204" pitchFamily="34" charset="0"/>
                <a:ea typeface="Cambria" panose="02040503050406030204" pitchFamily="34" charset="-122"/>
                <a:cs typeface="Cambria" panose="02040503050406030204" pitchFamily="34" charset="-120"/>
              </a:rPr>
              <a:t>Business Understanding</a:t>
            </a:r>
            <a:endParaRPr lang="en-US" sz="3000" dirty="0"/>
          </a:p>
        </p:txBody>
      </p:sp>
      <p:sp>
        <p:nvSpPr>
          <p:cNvPr id="4" name="Text 1"/>
          <p:cNvSpPr/>
          <p:nvPr/>
        </p:nvSpPr>
        <p:spPr>
          <a:xfrm>
            <a:off x="1234440" y="960120"/>
            <a:ext cx="9601200" cy="320040"/>
          </a:xfrm>
          <a:prstGeom prst="rect">
            <a:avLst/>
          </a:prstGeom>
          <a:noFill/>
        </p:spPr>
        <p:txBody>
          <a:bodyPr wrap="square" rtlCol="0" anchor="ctr"/>
          <a:lstStyle/>
          <a:p>
            <a:pPr marL="0" indent="0">
              <a:buNone/>
            </a:pPr>
            <a:r>
              <a:rPr lang="en-US" sz="1250" i="1" dirty="0">
                <a:solidFill>
                  <a:srgbClr val="5B7285"/>
                </a:solidFill>
                <a:latin typeface="Calibri" panose="020F0502020204030204" pitchFamily="34" charset="0"/>
                <a:ea typeface="Calibri" panose="020F0502020204030204" pitchFamily="34" charset="-122"/>
                <a:cs typeface="Calibri" panose="020F0502020204030204" pitchFamily="34" charset="-120"/>
              </a:rPr>
              <a:t>Phase 1 — from raw flight records to a defined, measurable business objective</a:t>
            </a:r>
            <a:endParaRPr lang="en-US" sz="1250" dirty="0"/>
          </a:p>
        </p:txBody>
      </p:sp>
      <p:sp>
        <p:nvSpPr>
          <p:cNvPr id="5" name="Shape 2"/>
          <p:cNvSpPr/>
          <p:nvPr/>
        </p:nvSpPr>
        <p:spPr>
          <a:xfrm>
            <a:off x="632308" y="1600200"/>
            <a:ext cx="3429000" cy="4572000"/>
          </a:xfrm>
          <a:prstGeom prst="roundRect">
            <a:avLst>
              <a:gd name="adj" fmla="val 2667"/>
            </a:avLst>
          </a:prstGeom>
          <a:solidFill>
            <a:srgbClr val="FFFFFF"/>
          </a:solidFill>
          <a:ln w="12700">
            <a:solidFill>
              <a:srgbClr val="DCE6ED"/>
            </a:solidFill>
            <a:prstDash val="solid"/>
          </a:ln>
          <a:effectLst>
            <a:outerShdw blurRad="101600" dist="38100" dir="5400000" algn="bl" rotWithShape="0">
              <a:srgbClr val="9DB3C2">
                <a:alpha val="35000"/>
              </a:srgbClr>
            </a:outerShdw>
          </a:effectLst>
        </p:spPr>
      </p:sp>
      <p:sp>
        <p:nvSpPr>
          <p:cNvPr id="6" name="Shape 3"/>
          <p:cNvSpPr/>
          <p:nvPr/>
        </p:nvSpPr>
        <p:spPr>
          <a:xfrm>
            <a:off x="1962760" y="1920240"/>
            <a:ext cx="768096" cy="768096"/>
          </a:xfrm>
          <a:prstGeom prst="ellipse">
            <a:avLst/>
          </a:prstGeom>
          <a:solidFill>
            <a:srgbClr val="0E3A66"/>
          </a:solidFill>
        </p:spPr>
      </p:sp>
      <p:pic>
        <p:nvPicPr>
          <p:cNvPr id="7" name="Image 1" descr="preencoded.png"/>
          <p:cNvPicPr>
            <a:picLocks noChangeAspect="1"/>
          </p:cNvPicPr>
          <p:nvPr/>
        </p:nvPicPr>
        <p:blipFill>
          <a:blip r:embed="rId2"/>
          <a:stretch>
            <a:fillRect/>
          </a:stretch>
        </p:blipFill>
        <p:spPr>
          <a:xfrm>
            <a:off x="2127352" y="2084832"/>
            <a:ext cx="438912" cy="438912"/>
          </a:xfrm>
          <a:prstGeom prst="rect">
            <a:avLst/>
          </a:prstGeom>
        </p:spPr>
      </p:pic>
      <p:sp>
        <p:nvSpPr>
          <p:cNvPr id="8" name="Text 4"/>
          <p:cNvSpPr/>
          <p:nvPr/>
        </p:nvSpPr>
        <p:spPr>
          <a:xfrm>
            <a:off x="815188" y="2834640"/>
            <a:ext cx="3063240" cy="457200"/>
          </a:xfrm>
          <a:prstGeom prst="rect">
            <a:avLst/>
          </a:prstGeom>
          <a:noFill/>
        </p:spPr>
        <p:txBody>
          <a:bodyPr wrap="square" rtlCol="0" anchor="ctr"/>
          <a:lstStyle/>
          <a:p>
            <a:pPr marL="0" indent="0" algn="ctr">
              <a:buNone/>
            </a:pPr>
            <a:r>
              <a:rPr lang="en-US" sz="1700" b="1" dirty="0">
                <a:solidFill>
                  <a:srgbClr val="132434"/>
                </a:solidFill>
                <a:latin typeface="Cambria" panose="02040503050406030204" pitchFamily="34" charset="0"/>
                <a:ea typeface="Cambria" panose="02040503050406030204" pitchFamily="34" charset="-122"/>
                <a:cs typeface="Cambria" panose="02040503050406030204" pitchFamily="34" charset="-120"/>
              </a:rPr>
              <a:t>Business Problem</a:t>
            </a:r>
            <a:endParaRPr lang="en-US" sz="1700" dirty="0"/>
          </a:p>
        </p:txBody>
      </p:sp>
      <p:sp>
        <p:nvSpPr>
          <p:cNvPr id="9" name="Text 5"/>
          <p:cNvSpPr/>
          <p:nvPr/>
        </p:nvSpPr>
        <p:spPr>
          <a:xfrm>
            <a:off x="924916" y="3383280"/>
            <a:ext cx="2843784" cy="2560320"/>
          </a:xfrm>
          <a:prstGeom prst="rect">
            <a:avLst/>
          </a:prstGeom>
          <a:noFill/>
        </p:spPr>
        <p:txBody>
          <a:bodyPr wrap="square" rtlCol="0" anchor="t"/>
          <a:lstStyle/>
          <a:p>
            <a:pPr marL="0" indent="0" algn="l">
              <a:lnSpc>
                <a:spcPct val="125000"/>
              </a:lnSpc>
              <a:buNone/>
            </a:pPr>
            <a:r>
              <a:rPr lang="en-US" sz="1250" dirty="0">
                <a:solidFill>
                  <a:srgbClr val="5B7285"/>
                </a:solidFill>
                <a:latin typeface="Calibri" panose="020F0502020204030204" pitchFamily="34" charset="0"/>
                <a:ea typeface="Calibri" panose="020F0502020204030204" pitchFamily="34" charset="-122"/>
                <a:cs typeface="Calibri" panose="020F0502020204030204" pitchFamily="34" charset="-120"/>
              </a:rPr>
              <a:t>Flight delays create real operational and customer-service costs for airlines and airports. The project uses historical flight and operational data to understand delay patterns and to predict, ahead of time, whether an operating flight will arrive 15 or more minutes late.</a:t>
            </a:r>
            <a:endParaRPr lang="en-US" sz="1250" dirty="0"/>
          </a:p>
        </p:txBody>
      </p:sp>
      <p:sp>
        <p:nvSpPr>
          <p:cNvPr id="10" name="Shape 6"/>
          <p:cNvSpPr/>
          <p:nvPr/>
        </p:nvSpPr>
        <p:spPr>
          <a:xfrm>
            <a:off x="4381348" y="1600200"/>
            <a:ext cx="3429000" cy="4572000"/>
          </a:xfrm>
          <a:prstGeom prst="roundRect">
            <a:avLst>
              <a:gd name="adj" fmla="val 2667"/>
            </a:avLst>
          </a:prstGeom>
          <a:solidFill>
            <a:srgbClr val="FFFFFF"/>
          </a:solidFill>
          <a:ln w="12700">
            <a:solidFill>
              <a:srgbClr val="DCE6ED"/>
            </a:solidFill>
            <a:prstDash val="solid"/>
          </a:ln>
          <a:effectLst>
            <a:outerShdw blurRad="101600" dist="38100" dir="5400000" algn="bl" rotWithShape="0">
              <a:srgbClr val="9DB3C2">
                <a:alpha val="35000"/>
              </a:srgbClr>
            </a:outerShdw>
          </a:effectLst>
        </p:spPr>
      </p:sp>
      <p:sp>
        <p:nvSpPr>
          <p:cNvPr id="11" name="Shape 7"/>
          <p:cNvSpPr/>
          <p:nvPr/>
        </p:nvSpPr>
        <p:spPr>
          <a:xfrm>
            <a:off x="5711800" y="1920240"/>
            <a:ext cx="768096" cy="768096"/>
          </a:xfrm>
          <a:prstGeom prst="ellipse">
            <a:avLst/>
          </a:prstGeom>
          <a:solidFill>
            <a:srgbClr val="1C7293"/>
          </a:solidFill>
        </p:spPr>
      </p:sp>
      <p:pic>
        <p:nvPicPr>
          <p:cNvPr id="12" name="Image 2" descr="preencoded.png"/>
          <p:cNvPicPr>
            <a:picLocks noChangeAspect="1"/>
          </p:cNvPicPr>
          <p:nvPr/>
        </p:nvPicPr>
        <p:blipFill>
          <a:blip r:embed="rId3"/>
          <a:stretch>
            <a:fillRect/>
          </a:stretch>
        </p:blipFill>
        <p:spPr>
          <a:xfrm>
            <a:off x="5876392" y="2084832"/>
            <a:ext cx="438912" cy="438912"/>
          </a:xfrm>
          <a:prstGeom prst="rect">
            <a:avLst/>
          </a:prstGeom>
        </p:spPr>
      </p:pic>
      <p:sp>
        <p:nvSpPr>
          <p:cNvPr id="13" name="Text 8"/>
          <p:cNvSpPr/>
          <p:nvPr/>
        </p:nvSpPr>
        <p:spPr>
          <a:xfrm>
            <a:off x="4564228" y="2834640"/>
            <a:ext cx="3063240" cy="457200"/>
          </a:xfrm>
          <a:prstGeom prst="rect">
            <a:avLst/>
          </a:prstGeom>
          <a:noFill/>
        </p:spPr>
        <p:txBody>
          <a:bodyPr wrap="square" rtlCol="0" anchor="ctr"/>
          <a:lstStyle/>
          <a:p>
            <a:pPr marL="0" indent="0" algn="ctr">
              <a:buNone/>
            </a:pPr>
            <a:r>
              <a:rPr lang="en-US" sz="1700" b="1" dirty="0">
                <a:solidFill>
                  <a:srgbClr val="132434"/>
                </a:solidFill>
                <a:latin typeface="Cambria" panose="02040503050406030204" pitchFamily="34" charset="0"/>
                <a:ea typeface="Cambria" panose="02040503050406030204" pitchFamily="34" charset="-122"/>
                <a:cs typeface="Cambria" panose="02040503050406030204" pitchFamily="34" charset="-120"/>
              </a:rPr>
              <a:t>Proposed Solution</a:t>
            </a:r>
            <a:endParaRPr lang="en-US" sz="1700" dirty="0"/>
          </a:p>
        </p:txBody>
      </p:sp>
      <p:sp>
        <p:nvSpPr>
          <p:cNvPr id="14" name="Text 9"/>
          <p:cNvSpPr/>
          <p:nvPr/>
        </p:nvSpPr>
        <p:spPr>
          <a:xfrm>
            <a:off x="4673956" y="3383280"/>
            <a:ext cx="2843784" cy="2560320"/>
          </a:xfrm>
          <a:prstGeom prst="rect">
            <a:avLst/>
          </a:prstGeom>
          <a:noFill/>
        </p:spPr>
        <p:txBody>
          <a:bodyPr wrap="square" rtlCol="0" anchor="t"/>
          <a:lstStyle/>
          <a:p>
            <a:pPr marL="0" indent="0" algn="l">
              <a:lnSpc>
                <a:spcPct val="125000"/>
              </a:lnSpc>
              <a:buNone/>
            </a:pPr>
            <a:r>
              <a:rPr lang="en-US" sz="1250" dirty="0">
                <a:solidFill>
                  <a:srgbClr val="5B7285"/>
                </a:solidFill>
                <a:latin typeface="Calibri" panose="020F0502020204030204" pitchFamily="34" charset="0"/>
                <a:ea typeface="Calibri" panose="020F0502020204030204" pitchFamily="34" charset="-122"/>
                <a:cs typeface="Calibri" panose="020F0502020204030204" pitchFamily="34" charset="-120"/>
              </a:rPr>
              <a:t>Clean and explore the on-time reporting dataset, surface the carrier, route and scheduling factors tied to late arrivals, then train and compare classification models that flag high delay-risk flights — packaged for later deployment as an interactive Streamlit application.</a:t>
            </a:r>
            <a:endParaRPr lang="en-US" sz="1250" dirty="0"/>
          </a:p>
        </p:txBody>
      </p:sp>
      <p:sp>
        <p:nvSpPr>
          <p:cNvPr id="15" name="Shape 10"/>
          <p:cNvSpPr/>
          <p:nvPr/>
        </p:nvSpPr>
        <p:spPr>
          <a:xfrm>
            <a:off x="8130388" y="1600200"/>
            <a:ext cx="3429000" cy="4572000"/>
          </a:xfrm>
          <a:prstGeom prst="roundRect">
            <a:avLst>
              <a:gd name="adj" fmla="val 2667"/>
            </a:avLst>
          </a:prstGeom>
          <a:solidFill>
            <a:srgbClr val="FFFFFF"/>
          </a:solidFill>
          <a:ln w="12700">
            <a:solidFill>
              <a:srgbClr val="DCE6ED"/>
            </a:solidFill>
            <a:prstDash val="solid"/>
          </a:ln>
          <a:effectLst>
            <a:outerShdw blurRad="101600" dist="38100" dir="5400000" algn="bl" rotWithShape="0">
              <a:srgbClr val="9DB3C2">
                <a:alpha val="35000"/>
              </a:srgbClr>
            </a:outerShdw>
          </a:effectLst>
        </p:spPr>
      </p:sp>
      <p:sp>
        <p:nvSpPr>
          <p:cNvPr id="16" name="Shape 11"/>
          <p:cNvSpPr/>
          <p:nvPr/>
        </p:nvSpPr>
        <p:spPr>
          <a:xfrm>
            <a:off x="9460840" y="1920240"/>
            <a:ext cx="768096" cy="768096"/>
          </a:xfrm>
          <a:prstGeom prst="ellipse">
            <a:avLst/>
          </a:prstGeom>
          <a:solidFill>
            <a:srgbClr val="2E6B5E"/>
          </a:solidFill>
        </p:spPr>
      </p:sp>
      <p:pic>
        <p:nvPicPr>
          <p:cNvPr id="17" name="Image 3" descr="preencoded.png"/>
          <p:cNvPicPr>
            <a:picLocks noChangeAspect="1"/>
          </p:cNvPicPr>
          <p:nvPr/>
        </p:nvPicPr>
        <p:blipFill>
          <a:blip r:embed="rId4"/>
          <a:stretch>
            <a:fillRect/>
          </a:stretch>
        </p:blipFill>
        <p:spPr>
          <a:xfrm>
            <a:off x="9625432" y="2084832"/>
            <a:ext cx="438912" cy="438912"/>
          </a:xfrm>
          <a:prstGeom prst="rect">
            <a:avLst/>
          </a:prstGeom>
        </p:spPr>
      </p:pic>
      <p:sp>
        <p:nvSpPr>
          <p:cNvPr id="18" name="Text 12"/>
          <p:cNvSpPr/>
          <p:nvPr/>
        </p:nvSpPr>
        <p:spPr>
          <a:xfrm>
            <a:off x="8313268" y="2834640"/>
            <a:ext cx="3063240" cy="457200"/>
          </a:xfrm>
          <a:prstGeom prst="rect">
            <a:avLst/>
          </a:prstGeom>
          <a:noFill/>
        </p:spPr>
        <p:txBody>
          <a:bodyPr wrap="square" rtlCol="0" anchor="ctr"/>
          <a:lstStyle/>
          <a:p>
            <a:pPr marL="0" indent="0" algn="ctr">
              <a:buNone/>
            </a:pPr>
            <a:r>
              <a:rPr lang="en-US" sz="1700" b="1" dirty="0">
                <a:solidFill>
                  <a:srgbClr val="132434"/>
                </a:solidFill>
                <a:latin typeface="Cambria" panose="02040503050406030204" pitchFamily="34" charset="0"/>
                <a:ea typeface="Cambria" panose="02040503050406030204" pitchFamily="34" charset="-122"/>
                <a:cs typeface="Cambria" panose="02040503050406030204" pitchFamily="34" charset="-120"/>
              </a:rPr>
              <a:t>Unique Value</a:t>
            </a:r>
            <a:endParaRPr lang="en-US" sz="1700" dirty="0"/>
          </a:p>
        </p:txBody>
      </p:sp>
      <p:sp>
        <p:nvSpPr>
          <p:cNvPr id="19" name="Text 13"/>
          <p:cNvSpPr/>
          <p:nvPr/>
        </p:nvSpPr>
        <p:spPr>
          <a:xfrm>
            <a:off x="8422996" y="3383280"/>
            <a:ext cx="2843784" cy="2560320"/>
          </a:xfrm>
          <a:prstGeom prst="rect">
            <a:avLst/>
          </a:prstGeom>
          <a:noFill/>
        </p:spPr>
        <p:txBody>
          <a:bodyPr wrap="square" rtlCol="0" anchor="t"/>
          <a:lstStyle/>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Complete End-to-End Data Pipeline</a:t>
            </a:r>
            <a:endParaRPr lang="en-US" sz="1100" dirty="0"/>
          </a:p>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Cleaning Data</a:t>
            </a:r>
            <a:endParaRPr lang="en-US" sz="1100" dirty="0"/>
          </a:p>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Star Schema Data Model</a:t>
            </a:r>
            <a:endParaRPr lang="en-US" sz="1100" dirty="0"/>
          </a:p>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Interactive Power BI Dashboard</a:t>
            </a:r>
            <a:endParaRPr lang="en-US" sz="1100" dirty="0"/>
          </a:p>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Machine Learning</a:t>
            </a:r>
            <a:endParaRPr lang="en-US" sz="1100" dirty="0"/>
          </a:p>
          <a:p>
            <a:pPr marL="177800" indent="-177800" algn="l">
              <a:lnSpc>
                <a:spcPct val="112000"/>
              </a:lnSpc>
              <a:spcAft>
                <a:spcPts val="800"/>
              </a:spcAft>
              <a:buSzPct val="100000"/>
              <a:buChar char="▪"/>
            </a:pPr>
            <a:r>
              <a:rPr lang="en-US" sz="1100" dirty="0">
                <a:solidFill>
                  <a:srgbClr val="5B7285"/>
                </a:solidFill>
                <a:latin typeface="Calibri" panose="020F0502020204030204" pitchFamily="34" charset="0"/>
                <a:ea typeface="Calibri" panose="020F0502020204030204" pitchFamily="34" charset="-122"/>
                <a:cs typeface="Calibri" panose="020F0502020204030204" pitchFamily="34" charset="-120"/>
              </a:rPr>
              <a:t>Actionable Insights: Translates complex, abstract mathematical metrics into guidance for biomedical researchers.</a:t>
            </a:r>
            <a:endParaRPr lang="en-US" sz="1100" dirty="0"/>
          </a:p>
        </p:txBody>
      </p:sp>
      <p:pic>
        <p:nvPicPr>
          <p:cNvPr id="20" name="Image 4" descr="preencoded.png"/>
          <p:cNvPicPr>
            <a:picLocks noChangeAspect="1"/>
          </p:cNvPicPr>
          <p:nvPr/>
        </p:nvPicPr>
        <p:blipFill>
          <a:blip r:embed="rId5"/>
          <a:stretch>
            <a:fillRect/>
          </a:stretch>
        </p:blipFill>
        <p:spPr>
          <a:xfrm>
            <a:off x="4109314" y="3776472"/>
            <a:ext cx="219456" cy="219456"/>
          </a:xfrm>
          <a:prstGeom prst="rect">
            <a:avLst/>
          </a:prstGeom>
        </p:spPr>
      </p:pic>
      <p:pic>
        <p:nvPicPr>
          <p:cNvPr id="21" name="Image 5" descr="preencoded.png"/>
          <p:cNvPicPr>
            <a:picLocks noChangeAspect="1"/>
          </p:cNvPicPr>
          <p:nvPr/>
        </p:nvPicPr>
        <p:blipFill>
          <a:blip r:embed="rId5"/>
          <a:stretch>
            <a:fillRect/>
          </a:stretch>
        </p:blipFill>
        <p:spPr>
          <a:xfrm>
            <a:off x="7858354" y="3776472"/>
            <a:ext cx="219456" cy="219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 0"/>
          <p:cNvSpPr/>
          <p:nvPr/>
        </p:nvSpPr>
        <p:spPr>
          <a:xfrm>
            <a:off x="1234440" y="438912"/>
            <a:ext cx="7315200" cy="594360"/>
          </a:xfrm>
          <a:prstGeom prst="rect">
            <a:avLst/>
          </a:prstGeom>
          <a:noFill/>
        </p:spPr>
        <p:txBody>
          <a:bodyPr wrap="square" rtlCol="0" anchor="ctr"/>
          <a:lstStyle/>
          <a:p>
            <a:pPr marL="0" indent="0" algn="l">
              <a:buNone/>
            </a:pPr>
            <a:r>
              <a:rPr lang="en-US" sz="3000" b="1" dirty="0">
                <a:solidFill>
                  <a:srgbClr val="0A1F44"/>
                </a:solidFill>
                <a:latin typeface="Cambria" panose="02040503050406030204" pitchFamily="34" charset="0"/>
                <a:ea typeface="Cambria" panose="02040503050406030204" pitchFamily="34" charset="-122"/>
                <a:cs typeface="Cambria" panose="02040503050406030204" pitchFamily="34" charset="-120"/>
              </a:rPr>
              <a:t>Data Understanding</a:t>
            </a:r>
            <a:endParaRPr lang="en-US" sz="3000" dirty="0"/>
          </a:p>
        </p:txBody>
      </p:sp>
      <p:sp>
        <p:nvSpPr>
          <p:cNvPr id="4" name="Text 1"/>
          <p:cNvSpPr/>
          <p:nvPr/>
        </p:nvSpPr>
        <p:spPr>
          <a:xfrm>
            <a:off x="1234440" y="960120"/>
            <a:ext cx="9601200" cy="320040"/>
          </a:xfrm>
          <a:prstGeom prst="rect">
            <a:avLst/>
          </a:prstGeom>
          <a:noFill/>
        </p:spPr>
        <p:txBody>
          <a:bodyPr wrap="square" rtlCol="0" anchor="ctr"/>
          <a:lstStyle/>
          <a:p>
            <a:pPr marL="0" indent="0">
              <a:buNone/>
            </a:pPr>
            <a:r>
              <a:rPr lang="en-US" sz="1250" i="1" dirty="0">
                <a:solidFill>
                  <a:srgbClr val="5B7285"/>
                </a:solidFill>
                <a:latin typeface="Calibri" panose="020F0502020204030204" pitchFamily="34" charset="0"/>
                <a:ea typeface="Calibri" panose="020F0502020204030204" pitchFamily="34" charset="-122"/>
                <a:cs typeface="Calibri" panose="020F0502020204030204" pitchFamily="34" charset="-120"/>
              </a:rPr>
              <a:t>Phase 2 — profiling the raw dataset before any cleaning or modelling</a:t>
            </a:r>
            <a:endParaRPr lang="en-US" sz="1250" dirty="0"/>
          </a:p>
        </p:txBody>
      </p:sp>
      <p:sp>
        <p:nvSpPr>
          <p:cNvPr id="5" name="Shape 2"/>
          <p:cNvSpPr/>
          <p:nvPr/>
        </p:nvSpPr>
        <p:spPr>
          <a:xfrm>
            <a:off x="554584" y="1508760"/>
            <a:ext cx="2084832" cy="1600200"/>
          </a:xfrm>
          <a:prstGeom prst="roundRect">
            <a:avLst>
              <a:gd name="adj" fmla="val 5714"/>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pic>
        <p:nvPicPr>
          <p:cNvPr id="6" name="Image 1" descr="preencoded.png"/>
          <p:cNvPicPr>
            <a:picLocks noChangeAspect="1"/>
          </p:cNvPicPr>
          <p:nvPr/>
        </p:nvPicPr>
        <p:blipFill>
          <a:blip r:embed="rId2"/>
          <a:stretch>
            <a:fillRect/>
          </a:stretch>
        </p:blipFill>
        <p:spPr>
          <a:xfrm>
            <a:off x="1395832" y="1709928"/>
            <a:ext cx="402336" cy="402336"/>
          </a:xfrm>
          <a:prstGeom prst="rect">
            <a:avLst/>
          </a:prstGeom>
        </p:spPr>
      </p:pic>
      <p:sp>
        <p:nvSpPr>
          <p:cNvPr id="7" name="Text 3"/>
          <p:cNvSpPr/>
          <p:nvPr/>
        </p:nvSpPr>
        <p:spPr>
          <a:xfrm>
            <a:off x="646024" y="2221992"/>
            <a:ext cx="1901952" cy="384048"/>
          </a:xfrm>
          <a:prstGeom prst="rect">
            <a:avLst/>
          </a:prstGeom>
          <a:noFill/>
        </p:spPr>
        <p:txBody>
          <a:bodyPr wrap="square" rtlCol="0" anchor="ctr"/>
          <a:lstStyle/>
          <a:p>
            <a:pPr marL="0" indent="0" algn="ctr">
              <a:buNone/>
            </a:pPr>
            <a:r>
              <a:rPr lang="en-US" sz="1900" b="1" dirty="0">
                <a:solidFill>
                  <a:srgbClr val="0A1F44"/>
                </a:solidFill>
                <a:latin typeface="Cambria" panose="02040503050406030204" pitchFamily="34" charset="0"/>
                <a:ea typeface="Cambria" panose="02040503050406030204" pitchFamily="34" charset="-122"/>
                <a:cs typeface="Cambria" panose="02040503050406030204" pitchFamily="34" charset="-120"/>
              </a:rPr>
              <a:t>544,003</a:t>
            </a:r>
            <a:endParaRPr lang="en-US" sz="1900" dirty="0"/>
          </a:p>
        </p:txBody>
      </p:sp>
      <p:sp>
        <p:nvSpPr>
          <p:cNvPr id="8" name="Text 4"/>
          <p:cNvSpPr/>
          <p:nvPr/>
        </p:nvSpPr>
        <p:spPr>
          <a:xfrm>
            <a:off x="664312" y="2624328"/>
            <a:ext cx="1865376" cy="411480"/>
          </a:xfrm>
          <a:prstGeom prst="rect">
            <a:avLst/>
          </a:prstGeom>
          <a:noFill/>
        </p:spPr>
        <p:txBody>
          <a:bodyPr wrap="square" rtlCol="0" anchor="ctr"/>
          <a:lstStyle/>
          <a:p>
            <a:pPr marL="0" indent="0" algn="ctr">
              <a:lnSpc>
                <a:spcPct val="105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Flight Records</a:t>
            </a:r>
            <a:endParaRPr lang="en-US" sz="1000" dirty="0"/>
          </a:p>
        </p:txBody>
      </p:sp>
      <p:sp>
        <p:nvSpPr>
          <p:cNvPr id="9" name="Shape 5"/>
          <p:cNvSpPr/>
          <p:nvPr/>
        </p:nvSpPr>
        <p:spPr>
          <a:xfrm>
            <a:off x="2804008" y="1508760"/>
            <a:ext cx="2084832" cy="1600200"/>
          </a:xfrm>
          <a:prstGeom prst="roundRect">
            <a:avLst>
              <a:gd name="adj" fmla="val 5714"/>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pic>
        <p:nvPicPr>
          <p:cNvPr id="10" name="Image 2" descr="preencoded.png"/>
          <p:cNvPicPr>
            <a:picLocks noChangeAspect="1"/>
          </p:cNvPicPr>
          <p:nvPr/>
        </p:nvPicPr>
        <p:blipFill>
          <a:blip r:embed="rId3"/>
          <a:stretch>
            <a:fillRect/>
          </a:stretch>
        </p:blipFill>
        <p:spPr>
          <a:xfrm>
            <a:off x="3645256" y="1709928"/>
            <a:ext cx="402336" cy="402336"/>
          </a:xfrm>
          <a:prstGeom prst="rect">
            <a:avLst/>
          </a:prstGeom>
        </p:spPr>
      </p:pic>
      <p:sp>
        <p:nvSpPr>
          <p:cNvPr id="11" name="Text 6"/>
          <p:cNvSpPr/>
          <p:nvPr/>
        </p:nvSpPr>
        <p:spPr>
          <a:xfrm>
            <a:off x="2895448" y="2221992"/>
            <a:ext cx="1901952" cy="384048"/>
          </a:xfrm>
          <a:prstGeom prst="rect">
            <a:avLst/>
          </a:prstGeom>
          <a:noFill/>
        </p:spPr>
        <p:txBody>
          <a:bodyPr wrap="square" rtlCol="0" anchor="ctr"/>
          <a:lstStyle/>
          <a:p>
            <a:pPr marL="0" indent="0" algn="ctr">
              <a:buNone/>
            </a:pPr>
            <a:r>
              <a:rPr lang="en-US" sz="1900" b="1" dirty="0">
                <a:solidFill>
                  <a:srgbClr val="0A1F44"/>
                </a:solidFill>
                <a:latin typeface="Cambria" panose="02040503050406030204" pitchFamily="34" charset="0"/>
                <a:ea typeface="Cambria" panose="02040503050406030204" pitchFamily="34" charset="-122"/>
                <a:cs typeface="Cambria" panose="02040503050406030204" pitchFamily="34" charset="-120"/>
              </a:rPr>
              <a:t>24</a:t>
            </a:r>
            <a:endParaRPr lang="en-US" sz="1900" dirty="0"/>
          </a:p>
        </p:txBody>
      </p:sp>
      <p:sp>
        <p:nvSpPr>
          <p:cNvPr id="12" name="Text 7"/>
          <p:cNvSpPr/>
          <p:nvPr/>
        </p:nvSpPr>
        <p:spPr>
          <a:xfrm>
            <a:off x="2913736" y="2624328"/>
            <a:ext cx="1865376" cy="411480"/>
          </a:xfrm>
          <a:prstGeom prst="rect">
            <a:avLst/>
          </a:prstGeom>
          <a:noFill/>
        </p:spPr>
        <p:txBody>
          <a:bodyPr wrap="square" rtlCol="0" anchor="ctr"/>
          <a:lstStyle/>
          <a:p>
            <a:pPr marL="0" indent="0" algn="ctr">
              <a:lnSpc>
                <a:spcPct val="105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Original Variables</a:t>
            </a:r>
            <a:endParaRPr lang="en-US" sz="1000" dirty="0"/>
          </a:p>
        </p:txBody>
      </p:sp>
      <p:sp>
        <p:nvSpPr>
          <p:cNvPr id="13" name="Shape 8"/>
          <p:cNvSpPr/>
          <p:nvPr/>
        </p:nvSpPr>
        <p:spPr>
          <a:xfrm>
            <a:off x="5053432" y="1508760"/>
            <a:ext cx="2084832" cy="1600200"/>
          </a:xfrm>
          <a:prstGeom prst="roundRect">
            <a:avLst>
              <a:gd name="adj" fmla="val 5714"/>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pic>
        <p:nvPicPr>
          <p:cNvPr id="14" name="Image 3" descr="preencoded.png"/>
          <p:cNvPicPr>
            <a:picLocks noChangeAspect="1"/>
          </p:cNvPicPr>
          <p:nvPr/>
        </p:nvPicPr>
        <p:blipFill>
          <a:blip r:embed="rId4"/>
          <a:stretch>
            <a:fillRect/>
          </a:stretch>
        </p:blipFill>
        <p:spPr>
          <a:xfrm>
            <a:off x="5894680" y="1709928"/>
            <a:ext cx="402336" cy="402336"/>
          </a:xfrm>
          <a:prstGeom prst="rect">
            <a:avLst/>
          </a:prstGeom>
        </p:spPr>
      </p:pic>
      <p:sp>
        <p:nvSpPr>
          <p:cNvPr id="15" name="Text 9"/>
          <p:cNvSpPr/>
          <p:nvPr/>
        </p:nvSpPr>
        <p:spPr>
          <a:xfrm>
            <a:off x="5144872" y="2221992"/>
            <a:ext cx="1901952" cy="384048"/>
          </a:xfrm>
          <a:prstGeom prst="rect">
            <a:avLst/>
          </a:prstGeom>
          <a:noFill/>
        </p:spPr>
        <p:txBody>
          <a:bodyPr wrap="square" rtlCol="0" anchor="ctr"/>
          <a:lstStyle/>
          <a:p>
            <a:pPr marL="0" indent="0" algn="ctr">
              <a:buNone/>
            </a:pPr>
            <a:r>
              <a:rPr lang="en-US" sz="1900" b="1" dirty="0">
                <a:solidFill>
                  <a:srgbClr val="0A1F44"/>
                </a:solidFill>
                <a:latin typeface="Cambria" panose="02040503050406030204" pitchFamily="34" charset="0"/>
                <a:ea typeface="Cambria" panose="02040503050406030204" pitchFamily="34" charset="-122"/>
                <a:cs typeface="Cambria" panose="02040503050406030204" pitchFamily="34" charset="-120"/>
              </a:rPr>
              <a:t>13</a:t>
            </a:r>
            <a:endParaRPr lang="en-US" sz="1900" dirty="0"/>
          </a:p>
        </p:txBody>
      </p:sp>
      <p:sp>
        <p:nvSpPr>
          <p:cNvPr id="16" name="Text 10"/>
          <p:cNvSpPr/>
          <p:nvPr/>
        </p:nvSpPr>
        <p:spPr>
          <a:xfrm>
            <a:off x="5163160" y="2624328"/>
            <a:ext cx="1865376" cy="411480"/>
          </a:xfrm>
          <a:prstGeom prst="rect">
            <a:avLst/>
          </a:prstGeom>
          <a:noFill/>
        </p:spPr>
        <p:txBody>
          <a:bodyPr wrap="square" rtlCol="0" anchor="ctr"/>
          <a:lstStyle/>
          <a:p>
            <a:pPr marL="0" indent="0" algn="ctr">
              <a:lnSpc>
                <a:spcPct val="105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Operating Carriers</a:t>
            </a:r>
            <a:endParaRPr lang="en-US" sz="1000" dirty="0"/>
          </a:p>
        </p:txBody>
      </p:sp>
      <p:sp>
        <p:nvSpPr>
          <p:cNvPr id="17" name="Shape 11"/>
          <p:cNvSpPr/>
          <p:nvPr/>
        </p:nvSpPr>
        <p:spPr>
          <a:xfrm>
            <a:off x="7302856" y="1508760"/>
            <a:ext cx="2084832" cy="1600200"/>
          </a:xfrm>
          <a:prstGeom prst="roundRect">
            <a:avLst>
              <a:gd name="adj" fmla="val 5714"/>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pic>
        <p:nvPicPr>
          <p:cNvPr id="18" name="Image 4" descr="preencoded.png"/>
          <p:cNvPicPr>
            <a:picLocks noChangeAspect="1"/>
          </p:cNvPicPr>
          <p:nvPr/>
        </p:nvPicPr>
        <p:blipFill>
          <a:blip r:embed="rId5"/>
          <a:stretch>
            <a:fillRect/>
          </a:stretch>
        </p:blipFill>
        <p:spPr>
          <a:xfrm>
            <a:off x="8144104" y="1709928"/>
            <a:ext cx="402336" cy="402336"/>
          </a:xfrm>
          <a:prstGeom prst="rect">
            <a:avLst/>
          </a:prstGeom>
        </p:spPr>
      </p:pic>
      <p:sp>
        <p:nvSpPr>
          <p:cNvPr id="19" name="Text 12"/>
          <p:cNvSpPr/>
          <p:nvPr/>
        </p:nvSpPr>
        <p:spPr>
          <a:xfrm>
            <a:off x="7394296" y="2221992"/>
            <a:ext cx="1901952" cy="384048"/>
          </a:xfrm>
          <a:prstGeom prst="rect">
            <a:avLst/>
          </a:prstGeom>
          <a:noFill/>
        </p:spPr>
        <p:txBody>
          <a:bodyPr wrap="square" rtlCol="0" anchor="ctr"/>
          <a:lstStyle/>
          <a:p>
            <a:pPr marL="0" indent="0" algn="ctr">
              <a:buNone/>
            </a:pPr>
            <a:r>
              <a:rPr lang="en-US" sz="1900" b="1" dirty="0">
                <a:solidFill>
                  <a:srgbClr val="0A1F44"/>
                </a:solidFill>
                <a:latin typeface="Cambria" panose="02040503050406030204" pitchFamily="34" charset="0"/>
                <a:ea typeface="Cambria" panose="02040503050406030204" pitchFamily="34" charset="-122"/>
                <a:cs typeface="Cambria" panose="02040503050406030204" pitchFamily="34" charset="-120"/>
              </a:rPr>
              <a:t>341 / 342</a:t>
            </a:r>
            <a:endParaRPr lang="en-US" sz="1900" dirty="0"/>
          </a:p>
        </p:txBody>
      </p:sp>
      <p:sp>
        <p:nvSpPr>
          <p:cNvPr id="20" name="Text 13"/>
          <p:cNvSpPr/>
          <p:nvPr/>
        </p:nvSpPr>
        <p:spPr>
          <a:xfrm>
            <a:off x="7412584" y="2624328"/>
            <a:ext cx="1865376" cy="411480"/>
          </a:xfrm>
          <a:prstGeom prst="rect">
            <a:avLst/>
          </a:prstGeom>
          <a:noFill/>
        </p:spPr>
        <p:txBody>
          <a:bodyPr wrap="square" rtlCol="0" anchor="ctr"/>
          <a:lstStyle/>
          <a:p>
            <a:pPr marL="0" indent="0" algn="ctr">
              <a:lnSpc>
                <a:spcPct val="105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Origin / Destination Airports</a:t>
            </a:r>
            <a:endParaRPr lang="en-US" sz="1000" dirty="0"/>
          </a:p>
        </p:txBody>
      </p:sp>
      <p:sp>
        <p:nvSpPr>
          <p:cNvPr id="21" name="Shape 14"/>
          <p:cNvSpPr/>
          <p:nvPr/>
        </p:nvSpPr>
        <p:spPr>
          <a:xfrm>
            <a:off x="9552280" y="1508760"/>
            <a:ext cx="2084832" cy="1600200"/>
          </a:xfrm>
          <a:prstGeom prst="roundRect">
            <a:avLst>
              <a:gd name="adj" fmla="val 5714"/>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pic>
        <p:nvPicPr>
          <p:cNvPr id="22" name="Image 5" descr="preencoded.png"/>
          <p:cNvPicPr>
            <a:picLocks noChangeAspect="1"/>
          </p:cNvPicPr>
          <p:nvPr/>
        </p:nvPicPr>
        <p:blipFill>
          <a:blip r:embed="rId6"/>
          <a:stretch>
            <a:fillRect/>
          </a:stretch>
        </p:blipFill>
        <p:spPr>
          <a:xfrm>
            <a:off x="10393528" y="1709928"/>
            <a:ext cx="402336" cy="402336"/>
          </a:xfrm>
          <a:prstGeom prst="rect">
            <a:avLst/>
          </a:prstGeom>
        </p:spPr>
      </p:pic>
      <p:sp>
        <p:nvSpPr>
          <p:cNvPr id="23" name="Text 15"/>
          <p:cNvSpPr/>
          <p:nvPr/>
        </p:nvSpPr>
        <p:spPr>
          <a:xfrm>
            <a:off x="9643720" y="2221992"/>
            <a:ext cx="1901952" cy="384048"/>
          </a:xfrm>
          <a:prstGeom prst="rect">
            <a:avLst/>
          </a:prstGeom>
          <a:noFill/>
        </p:spPr>
        <p:txBody>
          <a:bodyPr wrap="square" rtlCol="0" anchor="ctr"/>
          <a:lstStyle/>
          <a:p>
            <a:pPr marL="0" indent="0" algn="ctr">
              <a:buNone/>
            </a:pPr>
            <a:r>
              <a:rPr lang="en-US" sz="1900" b="1" dirty="0">
                <a:solidFill>
                  <a:srgbClr val="0A1F44"/>
                </a:solidFill>
                <a:latin typeface="Cambria" panose="02040503050406030204" pitchFamily="34" charset="0"/>
                <a:ea typeface="Cambria" panose="02040503050406030204" pitchFamily="34" charset="-122"/>
                <a:cs typeface="Cambria" panose="02040503050406030204" pitchFamily="34" charset="-120"/>
              </a:rPr>
              <a:t>Jan 2026</a:t>
            </a:r>
            <a:endParaRPr lang="en-US" sz="1900" dirty="0"/>
          </a:p>
        </p:txBody>
      </p:sp>
      <p:sp>
        <p:nvSpPr>
          <p:cNvPr id="24" name="Text 16"/>
          <p:cNvSpPr/>
          <p:nvPr/>
        </p:nvSpPr>
        <p:spPr>
          <a:xfrm>
            <a:off x="9662008" y="2624328"/>
            <a:ext cx="1865376" cy="411480"/>
          </a:xfrm>
          <a:prstGeom prst="rect">
            <a:avLst/>
          </a:prstGeom>
          <a:noFill/>
        </p:spPr>
        <p:txBody>
          <a:bodyPr wrap="square" rtlCol="0" anchor="ctr"/>
          <a:lstStyle/>
          <a:p>
            <a:pPr marL="0" indent="0" algn="ctr">
              <a:lnSpc>
                <a:spcPct val="105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Full Month Coverage</a:t>
            </a:r>
            <a:endParaRPr lang="en-US" sz="1000" dirty="0"/>
          </a:p>
        </p:txBody>
      </p:sp>
      <p:sp>
        <p:nvSpPr>
          <p:cNvPr id="25" name="Text 17"/>
          <p:cNvSpPr/>
          <p:nvPr/>
        </p:nvSpPr>
        <p:spPr>
          <a:xfrm>
            <a:off x="640080" y="3429000"/>
            <a:ext cx="9144000" cy="274320"/>
          </a:xfrm>
          <a:prstGeom prst="rect">
            <a:avLst/>
          </a:prstGeom>
          <a:noFill/>
        </p:spPr>
        <p:txBody>
          <a:bodyPr wrap="square" rtlCol="0" anchor="ctr"/>
          <a:lstStyle/>
          <a:p>
            <a:pPr marL="0" indent="0">
              <a:buNone/>
            </a:pPr>
            <a:r>
              <a:rPr lang="en-US" sz="1150" b="1" kern="0" spc="120" dirty="0">
                <a:solidFill>
                  <a:srgbClr val="1C7293"/>
                </a:solidFill>
                <a:latin typeface="Calibri" panose="020F0502020204030204" pitchFamily="34" charset="0"/>
                <a:ea typeface="Calibri" panose="020F0502020204030204" pitchFamily="34" charset="-122"/>
                <a:cs typeface="Calibri" panose="020F0502020204030204" pitchFamily="34" charset="-120"/>
              </a:rPr>
              <a:t>VARIABLE GROUPS IN THE DATASET</a:t>
            </a:r>
            <a:endParaRPr lang="en-US" sz="1150" dirty="0"/>
          </a:p>
        </p:txBody>
      </p:sp>
      <p:sp>
        <p:nvSpPr>
          <p:cNvPr id="26" name="Shape 18"/>
          <p:cNvSpPr/>
          <p:nvPr/>
        </p:nvSpPr>
        <p:spPr>
          <a:xfrm>
            <a:off x="449428" y="3794760"/>
            <a:ext cx="3611880" cy="868680"/>
          </a:xfrm>
          <a:prstGeom prst="roundRect">
            <a:avLst>
              <a:gd name="adj" fmla="val 8421"/>
            </a:avLst>
          </a:prstGeom>
          <a:solidFill>
            <a:srgbClr val="FFFFFF"/>
          </a:solidFill>
          <a:ln w="12700">
            <a:solidFill>
              <a:srgbClr val="DCE6ED"/>
            </a:solidFill>
            <a:prstDash val="solid"/>
          </a:ln>
        </p:spPr>
      </p:sp>
      <p:sp>
        <p:nvSpPr>
          <p:cNvPr id="27" name="Shape 19"/>
          <p:cNvSpPr/>
          <p:nvPr/>
        </p:nvSpPr>
        <p:spPr>
          <a:xfrm>
            <a:off x="632308" y="4101084"/>
            <a:ext cx="256032" cy="256032"/>
          </a:xfrm>
          <a:prstGeom prst="ellipse">
            <a:avLst/>
          </a:prstGeom>
          <a:solidFill>
            <a:srgbClr val="1C7293"/>
          </a:solidFill>
        </p:spPr>
      </p:sp>
      <p:sp>
        <p:nvSpPr>
          <p:cNvPr id="28" name="Text 20"/>
          <p:cNvSpPr/>
          <p:nvPr/>
        </p:nvSpPr>
        <p:spPr>
          <a:xfrm>
            <a:off x="1016356" y="390448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Flight Identification</a:t>
            </a:r>
            <a:endParaRPr lang="en-US" sz="1300" dirty="0"/>
          </a:p>
        </p:txBody>
      </p:sp>
      <p:sp>
        <p:nvSpPr>
          <p:cNvPr id="29" name="Text 21"/>
          <p:cNvSpPr/>
          <p:nvPr/>
        </p:nvSpPr>
        <p:spPr>
          <a:xfrm>
            <a:off x="1016356" y="421538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Carrier, tail number, flight number</a:t>
            </a:r>
            <a:endParaRPr lang="en-US" sz="1000" dirty="0"/>
          </a:p>
        </p:txBody>
      </p:sp>
      <p:sp>
        <p:nvSpPr>
          <p:cNvPr id="30" name="Shape 22"/>
          <p:cNvSpPr/>
          <p:nvPr/>
        </p:nvSpPr>
        <p:spPr>
          <a:xfrm>
            <a:off x="4289908" y="3794760"/>
            <a:ext cx="3611880" cy="868680"/>
          </a:xfrm>
          <a:prstGeom prst="roundRect">
            <a:avLst>
              <a:gd name="adj" fmla="val 8421"/>
            </a:avLst>
          </a:prstGeom>
          <a:solidFill>
            <a:srgbClr val="FFFFFF"/>
          </a:solidFill>
          <a:ln w="12700">
            <a:solidFill>
              <a:srgbClr val="DCE6ED"/>
            </a:solidFill>
            <a:prstDash val="solid"/>
          </a:ln>
        </p:spPr>
      </p:sp>
      <p:sp>
        <p:nvSpPr>
          <p:cNvPr id="31" name="Shape 23"/>
          <p:cNvSpPr/>
          <p:nvPr/>
        </p:nvSpPr>
        <p:spPr>
          <a:xfrm>
            <a:off x="4472788" y="4101084"/>
            <a:ext cx="256032" cy="256032"/>
          </a:xfrm>
          <a:prstGeom prst="ellipse">
            <a:avLst/>
          </a:prstGeom>
          <a:solidFill>
            <a:srgbClr val="1C7293"/>
          </a:solidFill>
        </p:spPr>
      </p:sp>
      <p:sp>
        <p:nvSpPr>
          <p:cNvPr id="32" name="Text 24"/>
          <p:cNvSpPr/>
          <p:nvPr/>
        </p:nvSpPr>
        <p:spPr>
          <a:xfrm>
            <a:off x="4856836" y="390448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Origin / Destination</a:t>
            </a:r>
            <a:endParaRPr lang="en-US" sz="1300" dirty="0"/>
          </a:p>
        </p:txBody>
      </p:sp>
      <p:sp>
        <p:nvSpPr>
          <p:cNvPr id="33" name="Text 25"/>
          <p:cNvSpPr/>
          <p:nvPr/>
        </p:nvSpPr>
        <p:spPr>
          <a:xfrm>
            <a:off x="4856836" y="421538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Airport, city and state names</a:t>
            </a:r>
            <a:endParaRPr lang="en-US" sz="1000" dirty="0"/>
          </a:p>
        </p:txBody>
      </p:sp>
      <p:sp>
        <p:nvSpPr>
          <p:cNvPr id="34" name="Shape 26"/>
          <p:cNvSpPr/>
          <p:nvPr/>
        </p:nvSpPr>
        <p:spPr>
          <a:xfrm>
            <a:off x="8130388" y="3794760"/>
            <a:ext cx="3611880" cy="868680"/>
          </a:xfrm>
          <a:prstGeom prst="roundRect">
            <a:avLst>
              <a:gd name="adj" fmla="val 8421"/>
            </a:avLst>
          </a:prstGeom>
          <a:solidFill>
            <a:srgbClr val="FFFFFF"/>
          </a:solidFill>
          <a:ln w="12700">
            <a:solidFill>
              <a:srgbClr val="DCE6ED"/>
            </a:solidFill>
            <a:prstDash val="solid"/>
          </a:ln>
        </p:spPr>
      </p:sp>
      <p:sp>
        <p:nvSpPr>
          <p:cNvPr id="35" name="Shape 27"/>
          <p:cNvSpPr/>
          <p:nvPr/>
        </p:nvSpPr>
        <p:spPr>
          <a:xfrm>
            <a:off x="8313268" y="4101084"/>
            <a:ext cx="256032" cy="256032"/>
          </a:xfrm>
          <a:prstGeom prst="ellipse">
            <a:avLst/>
          </a:prstGeom>
          <a:solidFill>
            <a:srgbClr val="1C7293"/>
          </a:solidFill>
        </p:spPr>
      </p:sp>
      <p:sp>
        <p:nvSpPr>
          <p:cNvPr id="36" name="Text 28"/>
          <p:cNvSpPr/>
          <p:nvPr/>
        </p:nvSpPr>
        <p:spPr>
          <a:xfrm>
            <a:off x="8697316" y="390448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Scheduled Information</a:t>
            </a:r>
            <a:endParaRPr lang="en-US" sz="1300" dirty="0"/>
          </a:p>
        </p:txBody>
      </p:sp>
      <p:sp>
        <p:nvSpPr>
          <p:cNvPr id="37" name="Text 29"/>
          <p:cNvSpPr/>
          <p:nvPr/>
        </p:nvSpPr>
        <p:spPr>
          <a:xfrm>
            <a:off x="8697316" y="421538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Flight date, scheduled dep./arr. time</a:t>
            </a:r>
            <a:endParaRPr lang="en-US" sz="1000" dirty="0"/>
          </a:p>
        </p:txBody>
      </p:sp>
      <p:sp>
        <p:nvSpPr>
          <p:cNvPr id="38" name="Shape 30"/>
          <p:cNvSpPr/>
          <p:nvPr/>
        </p:nvSpPr>
        <p:spPr>
          <a:xfrm>
            <a:off x="449428" y="4846320"/>
            <a:ext cx="3611880" cy="868680"/>
          </a:xfrm>
          <a:prstGeom prst="roundRect">
            <a:avLst>
              <a:gd name="adj" fmla="val 8421"/>
            </a:avLst>
          </a:prstGeom>
          <a:solidFill>
            <a:srgbClr val="FFFFFF"/>
          </a:solidFill>
          <a:ln w="12700">
            <a:solidFill>
              <a:srgbClr val="DCE6ED"/>
            </a:solidFill>
            <a:prstDash val="solid"/>
          </a:ln>
        </p:spPr>
      </p:sp>
      <p:sp>
        <p:nvSpPr>
          <p:cNvPr id="39" name="Shape 31"/>
          <p:cNvSpPr/>
          <p:nvPr/>
        </p:nvSpPr>
        <p:spPr>
          <a:xfrm>
            <a:off x="632308" y="5152644"/>
            <a:ext cx="256032" cy="256032"/>
          </a:xfrm>
          <a:prstGeom prst="ellipse">
            <a:avLst/>
          </a:prstGeom>
          <a:solidFill>
            <a:srgbClr val="1C7293"/>
          </a:solidFill>
        </p:spPr>
      </p:sp>
      <p:sp>
        <p:nvSpPr>
          <p:cNvPr id="40" name="Text 32"/>
          <p:cNvSpPr/>
          <p:nvPr/>
        </p:nvSpPr>
        <p:spPr>
          <a:xfrm>
            <a:off x="1016356" y="495604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Delay Measures</a:t>
            </a:r>
            <a:endParaRPr lang="en-US" sz="1300" dirty="0"/>
          </a:p>
        </p:txBody>
      </p:sp>
      <p:sp>
        <p:nvSpPr>
          <p:cNvPr id="41" name="Text 33"/>
          <p:cNvSpPr/>
          <p:nvPr/>
        </p:nvSpPr>
        <p:spPr>
          <a:xfrm>
            <a:off x="1016356" y="526694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Departure &amp; arrival delay, 15-min flags</a:t>
            </a:r>
            <a:endParaRPr lang="en-US" sz="1000" dirty="0"/>
          </a:p>
        </p:txBody>
      </p:sp>
      <p:sp>
        <p:nvSpPr>
          <p:cNvPr id="42" name="Shape 34"/>
          <p:cNvSpPr/>
          <p:nvPr/>
        </p:nvSpPr>
        <p:spPr>
          <a:xfrm>
            <a:off x="4289908" y="4846320"/>
            <a:ext cx="3611880" cy="868680"/>
          </a:xfrm>
          <a:prstGeom prst="roundRect">
            <a:avLst>
              <a:gd name="adj" fmla="val 8421"/>
            </a:avLst>
          </a:prstGeom>
          <a:solidFill>
            <a:srgbClr val="FFFFFF"/>
          </a:solidFill>
          <a:ln w="12700">
            <a:solidFill>
              <a:srgbClr val="DCE6ED"/>
            </a:solidFill>
            <a:prstDash val="solid"/>
          </a:ln>
        </p:spPr>
      </p:sp>
      <p:sp>
        <p:nvSpPr>
          <p:cNvPr id="43" name="Shape 35"/>
          <p:cNvSpPr/>
          <p:nvPr/>
        </p:nvSpPr>
        <p:spPr>
          <a:xfrm>
            <a:off x="4472788" y="5152644"/>
            <a:ext cx="256032" cy="256032"/>
          </a:xfrm>
          <a:prstGeom prst="ellipse">
            <a:avLst/>
          </a:prstGeom>
          <a:solidFill>
            <a:srgbClr val="1C7293"/>
          </a:solidFill>
        </p:spPr>
      </p:sp>
      <p:sp>
        <p:nvSpPr>
          <p:cNvPr id="44" name="Text 36"/>
          <p:cNvSpPr/>
          <p:nvPr/>
        </p:nvSpPr>
        <p:spPr>
          <a:xfrm>
            <a:off x="4856836" y="495604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Operational Measures</a:t>
            </a:r>
            <a:endParaRPr lang="en-US" sz="1300" dirty="0"/>
          </a:p>
        </p:txBody>
      </p:sp>
      <p:sp>
        <p:nvSpPr>
          <p:cNvPr id="45" name="Text 37"/>
          <p:cNvSpPr/>
          <p:nvPr/>
        </p:nvSpPr>
        <p:spPr>
          <a:xfrm>
            <a:off x="4856836" y="526694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Taxi-out time, elapsed time, distance</a:t>
            </a:r>
            <a:endParaRPr lang="en-US" sz="1000" dirty="0"/>
          </a:p>
        </p:txBody>
      </p:sp>
      <p:sp>
        <p:nvSpPr>
          <p:cNvPr id="46" name="Shape 38"/>
          <p:cNvSpPr/>
          <p:nvPr/>
        </p:nvSpPr>
        <p:spPr>
          <a:xfrm>
            <a:off x="8130388" y="4846320"/>
            <a:ext cx="3611880" cy="868680"/>
          </a:xfrm>
          <a:prstGeom prst="roundRect">
            <a:avLst>
              <a:gd name="adj" fmla="val 8421"/>
            </a:avLst>
          </a:prstGeom>
          <a:solidFill>
            <a:srgbClr val="FFFFFF"/>
          </a:solidFill>
          <a:ln w="12700">
            <a:solidFill>
              <a:srgbClr val="DCE6ED"/>
            </a:solidFill>
            <a:prstDash val="solid"/>
          </a:ln>
        </p:spPr>
      </p:sp>
      <p:sp>
        <p:nvSpPr>
          <p:cNvPr id="47" name="Shape 39"/>
          <p:cNvSpPr/>
          <p:nvPr/>
        </p:nvSpPr>
        <p:spPr>
          <a:xfrm>
            <a:off x="8313268" y="5152644"/>
            <a:ext cx="256032" cy="256032"/>
          </a:xfrm>
          <a:prstGeom prst="ellipse">
            <a:avLst/>
          </a:prstGeom>
          <a:solidFill>
            <a:srgbClr val="1C7293"/>
          </a:solidFill>
        </p:spPr>
      </p:sp>
      <p:sp>
        <p:nvSpPr>
          <p:cNvPr id="48" name="Text 40"/>
          <p:cNvSpPr/>
          <p:nvPr/>
        </p:nvSpPr>
        <p:spPr>
          <a:xfrm>
            <a:off x="8697316" y="4956048"/>
            <a:ext cx="288036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Cancellation Info</a:t>
            </a:r>
            <a:endParaRPr lang="en-US" sz="1300" dirty="0"/>
          </a:p>
        </p:txBody>
      </p:sp>
      <p:sp>
        <p:nvSpPr>
          <p:cNvPr id="49" name="Text 41"/>
          <p:cNvSpPr/>
          <p:nvPr/>
        </p:nvSpPr>
        <p:spPr>
          <a:xfrm>
            <a:off x="8697316" y="5266944"/>
            <a:ext cx="2880360" cy="384048"/>
          </a:xfrm>
          <a:prstGeom prst="rect">
            <a:avLst/>
          </a:prstGeom>
          <a:noFill/>
        </p:spPr>
        <p:txBody>
          <a:bodyPr wrap="square" rtlCol="0" anchor="ctr"/>
          <a:lstStyle/>
          <a:p>
            <a:pPr marL="0" indent="0">
              <a:lnSpc>
                <a:spcPct val="110000"/>
              </a:lnSpc>
              <a:buNone/>
            </a:pPr>
            <a:r>
              <a:rPr lang="en-US" sz="1000" dirty="0">
                <a:solidFill>
                  <a:srgbClr val="5B7285"/>
                </a:solidFill>
                <a:latin typeface="Calibri" panose="020F0502020204030204" pitchFamily="34" charset="0"/>
                <a:ea typeface="Calibri" panose="020F0502020204030204" pitchFamily="34" charset="-122"/>
                <a:cs typeface="Calibri" panose="020F0502020204030204" pitchFamily="34" charset="-120"/>
              </a:rPr>
              <a:t>Cancelled flag, cancellation code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700000">
            <a:off x="640080" y="502920"/>
            <a:ext cx="457200" cy="457200"/>
          </a:xfrm>
          <a:prstGeom prst="rect">
            <a:avLst/>
          </a:prstGeom>
        </p:spPr>
      </p:pic>
      <p:sp>
        <p:nvSpPr>
          <p:cNvPr id="3" name="Text 0"/>
          <p:cNvSpPr/>
          <p:nvPr/>
        </p:nvSpPr>
        <p:spPr>
          <a:xfrm>
            <a:off x="1234440" y="438912"/>
            <a:ext cx="8229600" cy="594360"/>
          </a:xfrm>
          <a:prstGeom prst="rect">
            <a:avLst/>
          </a:prstGeom>
          <a:noFill/>
        </p:spPr>
        <p:txBody>
          <a:bodyPr wrap="square" rtlCol="0" anchor="ctr"/>
          <a:lstStyle/>
          <a:p>
            <a:pPr marL="0" indent="0" algn="l">
              <a:buNone/>
            </a:pPr>
            <a:r>
              <a:rPr lang="en-US" sz="2800" b="1" dirty="0">
                <a:solidFill>
                  <a:srgbClr val="0A1F44"/>
                </a:solidFill>
                <a:latin typeface="Cambria" panose="02040503050406030204" pitchFamily="34" charset="0"/>
                <a:ea typeface="Cambria" panose="02040503050406030204" pitchFamily="34" charset="-122"/>
                <a:cs typeface="Cambria" panose="02040503050406030204" pitchFamily="34" charset="-120"/>
              </a:rPr>
              <a:t>Data Quality &amp; Target Variable</a:t>
            </a:r>
            <a:endParaRPr lang="en-US" sz="2800" dirty="0"/>
          </a:p>
        </p:txBody>
      </p:sp>
      <p:sp>
        <p:nvSpPr>
          <p:cNvPr id="4" name="Text 1"/>
          <p:cNvSpPr/>
          <p:nvPr/>
        </p:nvSpPr>
        <p:spPr>
          <a:xfrm>
            <a:off x="1234440" y="960120"/>
            <a:ext cx="9601200" cy="320040"/>
          </a:xfrm>
          <a:prstGeom prst="rect">
            <a:avLst/>
          </a:prstGeom>
          <a:noFill/>
        </p:spPr>
        <p:txBody>
          <a:bodyPr wrap="square" rtlCol="0" anchor="ctr"/>
          <a:lstStyle/>
          <a:p>
            <a:pPr marL="0" indent="0">
              <a:buNone/>
            </a:pPr>
            <a:r>
              <a:rPr lang="en-US" sz="1250" i="1" dirty="0">
                <a:solidFill>
                  <a:srgbClr val="5B7285"/>
                </a:solidFill>
                <a:latin typeface="Calibri" panose="020F0502020204030204" pitchFamily="34" charset="0"/>
                <a:ea typeface="Calibri" panose="020F0502020204030204" pitchFamily="34" charset="-122"/>
                <a:cs typeface="Calibri" panose="020F0502020204030204" pitchFamily="34" charset="-120"/>
              </a:rPr>
              <a:t>Phase 2 — missing values, duplicates and the class balance of ARR_DEL15</a:t>
            </a:r>
            <a:endParaRPr lang="en-US" sz="1250" dirty="0"/>
          </a:p>
        </p:txBody>
      </p:sp>
      <p:sp>
        <p:nvSpPr>
          <p:cNvPr id="5" name="Shape 2"/>
          <p:cNvSpPr/>
          <p:nvPr/>
        </p:nvSpPr>
        <p:spPr>
          <a:xfrm>
            <a:off x="640080" y="1463040"/>
            <a:ext cx="6309360" cy="4617720"/>
          </a:xfrm>
          <a:prstGeom prst="roundRect">
            <a:avLst>
              <a:gd name="adj" fmla="val 1980"/>
            </a:avLst>
          </a:prstGeom>
          <a:solidFill>
            <a:srgbClr val="FFFFFF"/>
          </a:solidFill>
          <a:ln w="12700">
            <a:solidFill>
              <a:srgbClr val="DCE6ED"/>
            </a:solidFill>
            <a:prstDash val="solid"/>
          </a:ln>
          <a:effectLst>
            <a:outerShdw blurRad="76200" dist="25400" dir="5400000" algn="bl" rotWithShape="0">
              <a:srgbClr val="9DB3C2">
                <a:alpha val="30000"/>
              </a:srgbClr>
            </a:outerShdw>
          </a:effectLst>
        </p:spPr>
      </p:sp>
      <p:sp>
        <p:nvSpPr>
          <p:cNvPr id="6" name="Text 3"/>
          <p:cNvSpPr/>
          <p:nvPr/>
        </p:nvSpPr>
        <p:spPr>
          <a:xfrm>
            <a:off x="914400" y="1645920"/>
            <a:ext cx="5760720" cy="320040"/>
          </a:xfrm>
          <a:prstGeom prst="rect">
            <a:avLst/>
          </a:prstGeom>
          <a:noFill/>
        </p:spPr>
        <p:txBody>
          <a:bodyPr wrap="square" rtlCol="0" anchor="ctr"/>
          <a:lstStyle/>
          <a:p>
            <a:pPr marL="0" indent="0">
              <a:buNone/>
            </a:pPr>
            <a:r>
              <a:rPr lang="en-US" sz="1300" b="1" dirty="0">
                <a:solidFill>
                  <a:srgbClr val="132434"/>
                </a:solidFill>
                <a:latin typeface="Calibri" panose="020F0502020204030204" pitchFamily="34" charset="0"/>
                <a:ea typeface="Calibri" panose="020F0502020204030204" pitchFamily="34" charset="-122"/>
                <a:cs typeface="Calibri" panose="020F0502020204030204" pitchFamily="34" charset="-120"/>
              </a:rPr>
              <a:t>Missing Values by Column (% of 544,003 rows)</a:t>
            </a:r>
            <a:endParaRPr lang="en-US" sz="1300" dirty="0"/>
          </a:p>
        </p:txBody>
      </p:sp>
      <p:graphicFrame>
        <p:nvGraphicFramePr>
          <p:cNvPr id="7" name="Chart 0"/>
          <p:cNvGraphicFramePr/>
          <p:nvPr/>
        </p:nvGraphicFramePr>
        <p:xfrm>
          <a:off x="868680" y="2057400"/>
          <a:ext cx="5852160" cy="3566160"/>
        </p:xfrm>
        <a:graphic>
          <a:graphicData uri="http://schemas.openxmlformats.org/drawingml/2006/chart">
            <c:chart xmlns:c="http://schemas.openxmlformats.org/drawingml/2006/chart" xmlns:r="http://schemas.openxmlformats.org/officeDocument/2006/relationships" r:id="rId1"/>
          </a:graphicData>
        </a:graphic>
      </p:graphicFrame>
      <p:sp>
        <p:nvSpPr>
          <p:cNvPr id="11" name="Shape 6"/>
          <p:cNvSpPr/>
          <p:nvPr/>
        </p:nvSpPr>
        <p:spPr>
          <a:xfrm>
            <a:off x="7162800" y="1463040"/>
            <a:ext cx="4328160" cy="2578735"/>
          </a:xfrm>
          <a:prstGeom prst="roundRect">
            <a:avLst>
              <a:gd name="adj" fmla="val 5714"/>
            </a:avLst>
          </a:prstGeom>
          <a:solidFill>
            <a:srgbClr val="0A1F44"/>
          </a:solidFill>
        </p:spPr>
      </p:sp>
      <p:pic>
        <p:nvPicPr>
          <p:cNvPr id="12" name="Image 1" descr="preencoded.png"/>
          <p:cNvPicPr>
            <a:picLocks noChangeAspect="1"/>
          </p:cNvPicPr>
          <p:nvPr/>
        </p:nvPicPr>
        <p:blipFill>
          <a:blip r:embed="rId3"/>
          <a:stretch>
            <a:fillRect/>
          </a:stretch>
        </p:blipFill>
        <p:spPr>
          <a:xfrm>
            <a:off x="7276973" y="1834515"/>
            <a:ext cx="274320" cy="274320"/>
          </a:xfrm>
          <a:prstGeom prst="rect">
            <a:avLst/>
          </a:prstGeom>
        </p:spPr>
      </p:pic>
      <p:sp>
        <p:nvSpPr>
          <p:cNvPr id="13" name="Text 7"/>
          <p:cNvSpPr/>
          <p:nvPr/>
        </p:nvSpPr>
        <p:spPr>
          <a:xfrm>
            <a:off x="7551420" y="1743329"/>
            <a:ext cx="3550615" cy="457200"/>
          </a:xfrm>
          <a:prstGeom prst="rect">
            <a:avLst/>
          </a:prstGeom>
          <a:noFill/>
        </p:spPr>
        <p:txBody>
          <a:bodyPr wrap="square" rtlCol="0" anchor="ctr"/>
          <a:lstStyle/>
          <a:p>
            <a:pPr marL="0" indent="0">
              <a:lnSpc>
                <a:spcPct val="115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No duplicate rows found across all 544,003 records.</a:t>
            </a:r>
            <a:endParaRPr lang="en-US" sz="1400" dirty="0"/>
          </a:p>
        </p:txBody>
      </p:sp>
      <p:pic>
        <p:nvPicPr>
          <p:cNvPr id="14" name="Image 2" descr="preencoded.png"/>
          <p:cNvPicPr>
            <a:picLocks noChangeAspect="1"/>
          </p:cNvPicPr>
          <p:nvPr/>
        </p:nvPicPr>
        <p:blipFill>
          <a:blip r:embed="rId4"/>
          <a:stretch>
            <a:fillRect/>
          </a:stretch>
        </p:blipFill>
        <p:spPr>
          <a:xfrm>
            <a:off x="7276973" y="2910205"/>
            <a:ext cx="274320" cy="274320"/>
          </a:xfrm>
          <a:prstGeom prst="rect">
            <a:avLst/>
          </a:prstGeom>
        </p:spPr>
      </p:pic>
      <p:sp>
        <p:nvSpPr>
          <p:cNvPr id="15" name="Text 8"/>
          <p:cNvSpPr/>
          <p:nvPr/>
        </p:nvSpPr>
        <p:spPr>
          <a:xfrm>
            <a:off x="7567295" y="2743327"/>
            <a:ext cx="3550615" cy="685800"/>
          </a:xfrm>
          <a:prstGeom prst="rect">
            <a:avLst/>
          </a:prstGeom>
          <a:noFill/>
        </p:spPr>
        <p:txBody>
          <a:bodyPr wrap="square" rtlCol="0" anchor="ctr"/>
          <a:lstStyle/>
          <a:p>
            <a:pPr marL="0" indent="0">
              <a:lnSpc>
                <a:spcPct val="115000"/>
              </a:lnSpc>
              <a:buNone/>
            </a:pPr>
            <a:r>
              <a:rPr lang="en-US" sz="1400" dirty="0">
                <a:solidFill>
                  <a:srgbClr val="9FB7CB"/>
                </a:solidFill>
                <a:latin typeface="Calibri" panose="020F0502020204030204" pitchFamily="34" charset="0"/>
                <a:ea typeface="Calibri" panose="020F0502020204030204" pitchFamily="34" charset="-122"/>
                <a:cs typeface="Calibri" panose="020F0502020204030204" pitchFamily="34" charset="-120"/>
              </a:rPr>
              <a:t>Delay fields hold extreme outliers (e.g. DEP_DELAY up to 3,339 minutes) — flagged for review, not auto-removed.</a:t>
            </a:r>
            <a:endParaRPr lang="en-US" sz="1400" dirty="0"/>
          </a:p>
        </p:txBody>
      </p:sp>
      <p:sp>
        <p:nvSpPr>
          <p:cNvPr id="16" name="Shape 6"/>
          <p:cNvSpPr/>
          <p:nvPr/>
        </p:nvSpPr>
        <p:spPr>
          <a:xfrm>
            <a:off x="7162165" y="4359910"/>
            <a:ext cx="4328160" cy="1868170"/>
          </a:xfrm>
          <a:prstGeom prst="roundRect">
            <a:avLst>
              <a:gd name="adj" fmla="val 2667"/>
            </a:avLst>
          </a:prstGeom>
          <a:solidFill>
            <a:schemeClr val="bg1"/>
          </a:solidFill>
        </p:spPr>
        <p:txBody>
          <a:bodyPr/>
          <a:p>
            <a:endParaRPr lang="en-US"/>
          </a:p>
        </p:txBody>
      </p:sp>
      <p:pic>
        <p:nvPicPr>
          <p:cNvPr id="17" name="Image 1" descr="preencoded.png"/>
          <p:cNvPicPr>
            <a:picLocks noChangeAspect="1"/>
          </p:cNvPicPr>
          <p:nvPr/>
        </p:nvPicPr>
        <p:blipFill>
          <a:blip r:embed="rId3"/>
          <a:stretch>
            <a:fillRect/>
          </a:stretch>
        </p:blipFill>
        <p:spPr>
          <a:xfrm>
            <a:off x="7292975" y="4471670"/>
            <a:ext cx="387350" cy="387350"/>
          </a:xfrm>
          <a:prstGeom prst="rect">
            <a:avLst/>
          </a:prstGeom>
        </p:spPr>
      </p:pic>
      <p:sp>
        <p:nvSpPr>
          <p:cNvPr id="18" name="Text Box 17"/>
          <p:cNvSpPr txBox="1"/>
          <p:nvPr/>
        </p:nvSpPr>
        <p:spPr>
          <a:xfrm>
            <a:off x="7813040" y="4471670"/>
            <a:ext cx="3699510" cy="1349375"/>
          </a:xfrm>
          <a:prstGeom prst="rect">
            <a:avLst/>
          </a:prstGeom>
          <a:noFill/>
        </p:spPr>
        <p:txBody>
          <a:bodyPr wrap="square" rtlCol="0">
            <a:noAutofit/>
          </a:bodyPr>
          <a:p>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There are 517,222 records with a non-missing ARR_DEL15 outcome, allowing the classification target to be </a:t>
            </a:r>
            <a:endPar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endParaRPr>
          </a:p>
          <a:p>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analysed after an appropriate treatment of cancelled/incomplete flights</a:t>
            </a:r>
            <a:endPar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 0"/>
          <p:cNvSpPr/>
          <p:nvPr/>
        </p:nvSpPr>
        <p:spPr>
          <a:xfrm>
            <a:off x="1234440" y="438912"/>
            <a:ext cx="7315200" cy="594360"/>
          </a:xfrm>
          <a:prstGeom prst="rect">
            <a:avLst/>
          </a:prstGeom>
          <a:noFill/>
        </p:spPr>
        <p:txBody>
          <a:bodyPr wrap="square" rtlCol="0" anchor="ctr"/>
          <a:lstStyle/>
          <a:p>
            <a:pPr marL="0" indent="0" algn="l">
              <a:buNone/>
            </a:pPr>
            <a:r>
              <a:rPr lang="en-US" sz="3000" b="1" dirty="0">
                <a:solidFill>
                  <a:srgbClr val="0A1F44"/>
                </a:solidFill>
                <a:latin typeface="Cambria" panose="02040503050406030204" pitchFamily="34" charset="0"/>
                <a:ea typeface="Cambria" panose="02040503050406030204" pitchFamily="34" charset="-122"/>
                <a:cs typeface="Cambria" panose="02040503050406030204" pitchFamily="34" charset="-120"/>
              </a:rPr>
              <a:t>Data Cleaning Pipeline</a:t>
            </a:r>
            <a:endParaRPr lang="en-US" sz="3000" dirty="0"/>
          </a:p>
        </p:txBody>
      </p:sp>
      <p:sp>
        <p:nvSpPr>
          <p:cNvPr id="4" name="Text 1"/>
          <p:cNvSpPr/>
          <p:nvPr/>
        </p:nvSpPr>
        <p:spPr>
          <a:xfrm>
            <a:off x="1234440" y="960120"/>
            <a:ext cx="9601200" cy="320040"/>
          </a:xfrm>
          <a:prstGeom prst="rect">
            <a:avLst/>
          </a:prstGeom>
          <a:noFill/>
        </p:spPr>
        <p:txBody>
          <a:bodyPr wrap="square" rtlCol="0" anchor="ctr"/>
          <a:lstStyle/>
          <a:p>
            <a:pPr marL="0" indent="0">
              <a:buNone/>
            </a:pPr>
            <a:r>
              <a:rPr lang="en-US" sz="1250" i="1" dirty="0">
                <a:solidFill>
                  <a:srgbClr val="5B7285"/>
                </a:solidFill>
                <a:latin typeface="Calibri" panose="020F0502020204030204" pitchFamily="34" charset="0"/>
                <a:ea typeface="Calibri" panose="020F0502020204030204" pitchFamily="34" charset="-122"/>
                <a:cs typeface="Calibri" panose="020F0502020204030204" pitchFamily="34" charset="-120"/>
              </a:rPr>
              <a:t>Phase 3 — preparing 544,003 raw flight records for analysis and modelling</a:t>
            </a:r>
            <a:endParaRPr lang="en-US" sz="1250" dirty="0"/>
          </a:p>
        </p:txBody>
      </p:sp>
      <p:sp>
        <p:nvSpPr>
          <p:cNvPr id="5" name="Shape 2"/>
          <p:cNvSpPr/>
          <p:nvPr/>
        </p:nvSpPr>
        <p:spPr>
          <a:xfrm>
            <a:off x="640080" y="1417320"/>
            <a:ext cx="4160520" cy="4526280"/>
          </a:xfrm>
          <a:prstGeom prst="roundRect">
            <a:avLst>
              <a:gd name="adj" fmla="val 2198"/>
            </a:avLst>
          </a:prstGeom>
          <a:solidFill>
            <a:srgbClr val="0A1F44"/>
          </a:solidFill>
        </p:spPr>
      </p:sp>
      <p:sp>
        <p:nvSpPr>
          <p:cNvPr id="6" name="Text 3"/>
          <p:cNvSpPr/>
          <p:nvPr/>
        </p:nvSpPr>
        <p:spPr>
          <a:xfrm>
            <a:off x="914400" y="1645920"/>
            <a:ext cx="3611880" cy="320040"/>
          </a:xfrm>
          <a:prstGeom prst="rect">
            <a:avLst/>
          </a:prstGeom>
          <a:noFill/>
        </p:spPr>
        <p:txBody>
          <a:bodyPr wrap="square" rtlCol="0" anchor="ctr"/>
          <a:lstStyle/>
          <a:p>
            <a:pPr marL="0" indent="0">
              <a:buNone/>
            </a:pPr>
            <a:r>
              <a:rPr lang="en-US" sz="1200" b="1" kern="0" spc="150" dirty="0">
                <a:solidFill>
                  <a:srgbClr val="F5A623"/>
                </a:solidFill>
                <a:latin typeface="Calibri" panose="020F0502020204030204" pitchFamily="34" charset="0"/>
                <a:ea typeface="Calibri" panose="020F0502020204030204" pitchFamily="34" charset="-122"/>
                <a:cs typeface="Calibri" panose="020F0502020204030204" pitchFamily="34" charset="-120"/>
              </a:rPr>
              <a:t>TOOLS &amp; LIBRARIES</a:t>
            </a:r>
            <a:endParaRPr lang="en-US" sz="1200" dirty="0"/>
          </a:p>
        </p:txBody>
      </p:sp>
      <p:sp>
        <p:nvSpPr>
          <p:cNvPr id="7" name="Shape 4"/>
          <p:cNvSpPr/>
          <p:nvPr/>
        </p:nvSpPr>
        <p:spPr>
          <a:xfrm>
            <a:off x="914400" y="2130552"/>
            <a:ext cx="566928" cy="566928"/>
          </a:xfrm>
          <a:prstGeom prst="roundRect">
            <a:avLst>
              <a:gd name="adj" fmla="val 19355"/>
            </a:avLst>
          </a:prstGeom>
          <a:solidFill>
            <a:srgbClr val="FFFFFF"/>
          </a:solidFill>
        </p:spPr>
      </p:sp>
      <p:pic>
        <p:nvPicPr>
          <p:cNvPr id="8" name="Image 1" descr="preencoded.png"/>
          <p:cNvPicPr>
            <a:picLocks noChangeAspect="1"/>
          </p:cNvPicPr>
          <p:nvPr/>
        </p:nvPicPr>
        <p:blipFill>
          <a:blip r:embed="rId2"/>
          <a:stretch>
            <a:fillRect/>
          </a:stretch>
        </p:blipFill>
        <p:spPr>
          <a:xfrm>
            <a:off x="1014984" y="2231136"/>
            <a:ext cx="365760" cy="365760"/>
          </a:xfrm>
          <a:prstGeom prst="rect">
            <a:avLst/>
          </a:prstGeom>
        </p:spPr>
      </p:pic>
      <p:sp>
        <p:nvSpPr>
          <p:cNvPr id="9" name="Text 5"/>
          <p:cNvSpPr/>
          <p:nvPr/>
        </p:nvSpPr>
        <p:spPr>
          <a:xfrm>
            <a:off x="1645920" y="2112264"/>
            <a:ext cx="2880360" cy="292608"/>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Google Colab</a:t>
            </a:r>
            <a:endParaRPr lang="en-US" sz="1400" dirty="0"/>
          </a:p>
        </p:txBody>
      </p:sp>
      <p:sp>
        <p:nvSpPr>
          <p:cNvPr id="10" name="Text 6"/>
          <p:cNvSpPr/>
          <p:nvPr/>
        </p:nvSpPr>
        <p:spPr>
          <a:xfrm>
            <a:off x="1645920" y="2386584"/>
            <a:ext cx="2880360" cy="502920"/>
          </a:xfrm>
          <a:prstGeom prst="rect">
            <a:avLst/>
          </a:prstGeom>
          <a:noFill/>
        </p:spPr>
        <p:txBody>
          <a:bodyPr wrap="square" rtlCol="0" anchor="ctr"/>
          <a:lstStyle/>
          <a:p>
            <a:pPr marL="0" indent="0">
              <a:lnSpc>
                <a:spcPct val="110000"/>
              </a:lnSpc>
              <a:buNone/>
            </a:pPr>
            <a:r>
              <a:rPr lang="en-US" sz="1050" dirty="0">
                <a:solidFill>
                  <a:srgbClr val="9FB7CB"/>
                </a:solidFill>
                <a:latin typeface="Calibri" panose="020F0502020204030204" pitchFamily="34" charset="0"/>
                <a:ea typeface="Calibri" panose="020F0502020204030204" pitchFamily="34" charset="-122"/>
                <a:cs typeface="Calibri" panose="020F0502020204030204" pitchFamily="34" charset="-120"/>
              </a:rPr>
              <a:t>Cloud notebook environment for the full cleaning workflow</a:t>
            </a:r>
            <a:endParaRPr lang="en-US" sz="1050" dirty="0"/>
          </a:p>
        </p:txBody>
      </p:sp>
      <p:sp>
        <p:nvSpPr>
          <p:cNvPr id="11" name="Shape 7"/>
          <p:cNvSpPr/>
          <p:nvPr/>
        </p:nvSpPr>
        <p:spPr>
          <a:xfrm>
            <a:off x="914400" y="2971800"/>
            <a:ext cx="566928" cy="566928"/>
          </a:xfrm>
          <a:prstGeom prst="roundRect">
            <a:avLst>
              <a:gd name="adj" fmla="val 19355"/>
            </a:avLst>
          </a:prstGeom>
          <a:solidFill>
            <a:srgbClr val="FFFFFF"/>
          </a:solidFill>
        </p:spPr>
      </p:sp>
      <p:pic>
        <p:nvPicPr>
          <p:cNvPr id="12" name="Image 2" descr="preencoded.png"/>
          <p:cNvPicPr>
            <a:picLocks noChangeAspect="1"/>
          </p:cNvPicPr>
          <p:nvPr/>
        </p:nvPicPr>
        <p:blipFill>
          <a:blip r:embed="rId3"/>
          <a:stretch>
            <a:fillRect/>
          </a:stretch>
        </p:blipFill>
        <p:spPr>
          <a:xfrm>
            <a:off x="1014984" y="3072384"/>
            <a:ext cx="365760" cy="365760"/>
          </a:xfrm>
          <a:prstGeom prst="rect">
            <a:avLst/>
          </a:prstGeom>
        </p:spPr>
      </p:pic>
      <p:sp>
        <p:nvSpPr>
          <p:cNvPr id="13" name="Text 8"/>
          <p:cNvSpPr/>
          <p:nvPr/>
        </p:nvSpPr>
        <p:spPr>
          <a:xfrm>
            <a:off x="1645920" y="2953512"/>
            <a:ext cx="2880360" cy="292608"/>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Python</a:t>
            </a:r>
            <a:endParaRPr lang="en-US" sz="1400" dirty="0"/>
          </a:p>
        </p:txBody>
      </p:sp>
      <p:sp>
        <p:nvSpPr>
          <p:cNvPr id="14" name="Text 9"/>
          <p:cNvSpPr/>
          <p:nvPr/>
        </p:nvSpPr>
        <p:spPr>
          <a:xfrm>
            <a:off x="1645920" y="3227832"/>
            <a:ext cx="2880360" cy="502920"/>
          </a:xfrm>
          <a:prstGeom prst="rect">
            <a:avLst/>
          </a:prstGeom>
          <a:noFill/>
        </p:spPr>
        <p:txBody>
          <a:bodyPr wrap="square" rtlCol="0" anchor="ctr"/>
          <a:lstStyle/>
          <a:p>
            <a:pPr marL="0" indent="0">
              <a:lnSpc>
                <a:spcPct val="110000"/>
              </a:lnSpc>
              <a:buNone/>
            </a:pPr>
            <a:r>
              <a:rPr lang="en-US" sz="1050" dirty="0">
                <a:solidFill>
                  <a:srgbClr val="9FB7CB"/>
                </a:solidFill>
                <a:latin typeface="Calibri" panose="020F0502020204030204" pitchFamily="34" charset="0"/>
                <a:ea typeface="Calibri" panose="020F0502020204030204" pitchFamily="34" charset="-122"/>
                <a:cs typeface="Calibri" panose="020F0502020204030204" pitchFamily="34" charset="-120"/>
              </a:rPr>
              <a:t>Core scripting language for the project</a:t>
            </a:r>
            <a:endParaRPr lang="en-US" sz="1050" dirty="0"/>
          </a:p>
        </p:txBody>
      </p:sp>
      <p:sp>
        <p:nvSpPr>
          <p:cNvPr id="15" name="Shape 10"/>
          <p:cNvSpPr/>
          <p:nvPr/>
        </p:nvSpPr>
        <p:spPr>
          <a:xfrm>
            <a:off x="914400" y="3813048"/>
            <a:ext cx="566928" cy="566928"/>
          </a:xfrm>
          <a:prstGeom prst="roundRect">
            <a:avLst>
              <a:gd name="adj" fmla="val 19355"/>
            </a:avLst>
          </a:prstGeom>
          <a:solidFill>
            <a:srgbClr val="FFFFFF"/>
          </a:solidFill>
        </p:spPr>
      </p:sp>
      <p:pic>
        <p:nvPicPr>
          <p:cNvPr id="16" name="Image 3" descr="preencoded.png"/>
          <p:cNvPicPr>
            <a:picLocks noChangeAspect="1"/>
          </p:cNvPicPr>
          <p:nvPr/>
        </p:nvPicPr>
        <p:blipFill>
          <a:blip r:embed="rId4"/>
          <a:stretch>
            <a:fillRect/>
          </a:stretch>
        </p:blipFill>
        <p:spPr>
          <a:xfrm>
            <a:off x="1014984" y="3913632"/>
            <a:ext cx="365760" cy="365760"/>
          </a:xfrm>
          <a:prstGeom prst="rect">
            <a:avLst/>
          </a:prstGeom>
        </p:spPr>
      </p:pic>
      <p:sp>
        <p:nvSpPr>
          <p:cNvPr id="17" name="Text 11"/>
          <p:cNvSpPr/>
          <p:nvPr/>
        </p:nvSpPr>
        <p:spPr>
          <a:xfrm>
            <a:off x="1645920" y="3794760"/>
            <a:ext cx="2880360" cy="292608"/>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pandas</a:t>
            </a:r>
            <a:endParaRPr lang="en-US" sz="1400" dirty="0"/>
          </a:p>
        </p:txBody>
      </p:sp>
      <p:sp>
        <p:nvSpPr>
          <p:cNvPr id="18" name="Text 12"/>
          <p:cNvSpPr/>
          <p:nvPr/>
        </p:nvSpPr>
        <p:spPr>
          <a:xfrm>
            <a:off x="1645920" y="4069080"/>
            <a:ext cx="2880360" cy="502920"/>
          </a:xfrm>
          <a:prstGeom prst="rect">
            <a:avLst/>
          </a:prstGeom>
          <a:noFill/>
        </p:spPr>
        <p:txBody>
          <a:bodyPr wrap="square" rtlCol="0" anchor="ctr"/>
          <a:lstStyle/>
          <a:p>
            <a:pPr marL="0" indent="0">
              <a:lnSpc>
                <a:spcPct val="110000"/>
              </a:lnSpc>
              <a:buNone/>
            </a:pPr>
            <a:r>
              <a:rPr lang="en-US" sz="1050" dirty="0">
                <a:solidFill>
                  <a:srgbClr val="9FB7CB"/>
                </a:solidFill>
                <a:latin typeface="Calibri" panose="020F0502020204030204" pitchFamily="34" charset="0"/>
                <a:ea typeface="Calibri" panose="020F0502020204030204" pitchFamily="34" charset="-122"/>
                <a:cs typeface="Calibri" panose="020F0502020204030204" pitchFamily="34" charset="-120"/>
              </a:rPr>
              <a:t>Loading, imputing, reshaping and exporting the dataset</a:t>
            </a:r>
            <a:endParaRPr lang="en-US" sz="1050" dirty="0"/>
          </a:p>
        </p:txBody>
      </p:sp>
      <p:sp>
        <p:nvSpPr>
          <p:cNvPr id="19" name="Shape 13"/>
          <p:cNvSpPr/>
          <p:nvPr/>
        </p:nvSpPr>
        <p:spPr>
          <a:xfrm>
            <a:off x="914400" y="4654296"/>
            <a:ext cx="566928" cy="566928"/>
          </a:xfrm>
          <a:prstGeom prst="roundRect">
            <a:avLst>
              <a:gd name="adj" fmla="val 19355"/>
            </a:avLst>
          </a:prstGeom>
          <a:solidFill>
            <a:srgbClr val="FFFFFF"/>
          </a:solidFill>
        </p:spPr>
      </p:sp>
      <p:pic>
        <p:nvPicPr>
          <p:cNvPr id="20" name="Image 4" descr="preencoded.png"/>
          <p:cNvPicPr>
            <a:picLocks noChangeAspect="1"/>
          </p:cNvPicPr>
          <p:nvPr/>
        </p:nvPicPr>
        <p:blipFill>
          <a:blip r:embed="rId5"/>
          <a:stretch>
            <a:fillRect/>
          </a:stretch>
        </p:blipFill>
        <p:spPr>
          <a:xfrm>
            <a:off x="1014984" y="4754880"/>
            <a:ext cx="365760" cy="365760"/>
          </a:xfrm>
          <a:prstGeom prst="rect">
            <a:avLst/>
          </a:prstGeom>
        </p:spPr>
      </p:pic>
      <p:sp>
        <p:nvSpPr>
          <p:cNvPr id="21" name="Text 14"/>
          <p:cNvSpPr/>
          <p:nvPr/>
        </p:nvSpPr>
        <p:spPr>
          <a:xfrm>
            <a:off x="1645920" y="4636008"/>
            <a:ext cx="2880360" cy="292608"/>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NumPy</a:t>
            </a:r>
            <a:endParaRPr lang="en-US" sz="1400" dirty="0"/>
          </a:p>
        </p:txBody>
      </p:sp>
      <p:sp>
        <p:nvSpPr>
          <p:cNvPr id="22" name="Text 15"/>
          <p:cNvSpPr/>
          <p:nvPr/>
        </p:nvSpPr>
        <p:spPr>
          <a:xfrm>
            <a:off x="1645920" y="4910328"/>
            <a:ext cx="2880360" cy="502920"/>
          </a:xfrm>
          <a:prstGeom prst="rect">
            <a:avLst/>
          </a:prstGeom>
          <a:noFill/>
        </p:spPr>
        <p:txBody>
          <a:bodyPr wrap="square" rtlCol="0" anchor="ctr"/>
          <a:lstStyle/>
          <a:p>
            <a:pPr marL="0" indent="0">
              <a:lnSpc>
                <a:spcPct val="110000"/>
              </a:lnSpc>
              <a:buNone/>
            </a:pPr>
            <a:r>
              <a:rPr lang="en-US" sz="1050" dirty="0">
                <a:solidFill>
                  <a:srgbClr val="9FB7CB"/>
                </a:solidFill>
                <a:latin typeface="Calibri" panose="020F0502020204030204" pitchFamily="34" charset="0"/>
                <a:ea typeface="Calibri" panose="020F0502020204030204" pitchFamily="34" charset="-122"/>
                <a:cs typeface="Calibri" panose="020F0502020204030204" pitchFamily="34" charset="-120"/>
              </a:rPr>
              <a:t>Numeric operations inside custom cleaning functions</a:t>
            </a:r>
            <a:endParaRPr lang="en-US" sz="1050" dirty="0"/>
          </a:p>
        </p:txBody>
      </p:sp>
      <p:sp>
        <p:nvSpPr>
          <p:cNvPr id="23" name="Text 16"/>
          <p:cNvSpPr/>
          <p:nvPr/>
        </p:nvSpPr>
        <p:spPr>
          <a:xfrm>
            <a:off x="914400" y="5632704"/>
            <a:ext cx="3611880" cy="274320"/>
          </a:xfrm>
          <a:prstGeom prst="rect">
            <a:avLst/>
          </a:prstGeom>
          <a:noFill/>
        </p:spPr>
        <p:txBody>
          <a:bodyPr wrap="square" rtlCol="0" anchor="ctr"/>
          <a:lstStyle/>
          <a:p>
            <a:pPr marL="0" indent="0">
              <a:buNone/>
            </a:pPr>
            <a:r>
              <a:rPr lang="en-US" sz="950" i="1" dirty="0">
                <a:solidFill>
                  <a:srgbClr val="6F89A0"/>
                </a:solidFill>
                <a:latin typeface="Calibri" panose="020F0502020204030204" pitchFamily="34" charset="0"/>
                <a:ea typeface="Calibri" panose="020F0502020204030204" pitchFamily="34" charset="-122"/>
                <a:cs typeface="Calibri" panose="020F0502020204030204" pitchFamily="34" charset="-120"/>
              </a:rPr>
              <a:t>Source read via pandas.read_excel(engine="openpyxl")</a:t>
            </a:r>
            <a:endParaRPr lang="en-US" sz="950" dirty="0"/>
          </a:p>
        </p:txBody>
      </p:sp>
      <p:sp>
        <p:nvSpPr>
          <p:cNvPr id="24" name="Shape 17"/>
          <p:cNvSpPr/>
          <p:nvPr/>
        </p:nvSpPr>
        <p:spPr>
          <a:xfrm>
            <a:off x="5120640" y="1417320"/>
            <a:ext cx="6430975" cy="1920240"/>
          </a:xfrm>
          <a:prstGeom prst="roundRect">
            <a:avLst>
              <a:gd name="adj" fmla="val 3810"/>
            </a:avLst>
          </a:prstGeom>
          <a:solidFill>
            <a:srgbClr val="0D2438"/>
          </a:solidFill>
          <a:effectLst>
            <a:outerShdw blurRad="76200" dist="25400" dir="5400000" algn="bl" rotWithShape="0">
              <a:srgbClr val="9DB3C2">
                <a:alpha val="30000"/>
              </a:srgbClr>
            </a:outerShdw>
          </a:effectLst>
        </p:spPr>
      </p:sp>
      <p:sp>
        <p:nvSpPr>
          <p:cNvPr id="25" name="Shape 18"/>
          <p:cNvSpPr/>
          <p:nvPr/>
        </p:nvSpPr>
        <p:spPr>
          <a:xfrm>
            <a:off x="5321808" y="1581912"/>
            <a:ext cx="118872" cy="118872"/>
          </a:xfrm>
          <a:prstGeom prst="ellipse">
            <a:avLst/>
          </a:prstGeom>
          <a:solidFill>
            <a:srgbClr val="F5544D"/>
          </a:solidFill>
        </p:spPr>
      </p:sp>
      <p:sp>
        <p:nvSpPr>
          <p:cNvPr id="26" name="Shape 19"/>
          <p:cNvSpPr/>
          <p:nvPr/>
        </p:nvSpPr>
        <p:spPr>
          <a:xfrm>
            <a:off x="5541264" y="1581912"/>
            <a:ext cx="118872" cy="118872"/>
          </a:xfrm>
          <a:prstGeom prst="ellipse">
            <a:avLst/>
          </a:prstGeom>
          <a:solidFill>
            <a:srgbClr val="F5A623"/>
          </a:solidFill>
        </p:spPr>
      </p:sp>
      <p:sp>
        <p:nvSpPr>
          <p:cNvPr id="27" name="Shape 20"/>
          <p:cNvSpPr/>
          <p:nvPr/>
        </p:nvSpPr>
        <p:spPr>
          <a:xfrm>
            <a:off x="5760720" y="1581912"/>
            <a:ext cx="118872" cy="118872"/>
          </a:xfrm>
          <a:prstGeom prst="ellipse">
            <a:avLst/>
          </a:prstGeom>
          <a:solidFill>
            <a:srgbClr val="3FC96B"/>
          </a:solidFill>
        </p:spPr>
      </p:sp>
      <p:sp>
        <p:nvSpPr>
          <p:cNvPr id="28" name="Text 21"/>
          <p:cNvSpPr/>
          <p:nvPr/>
        </p:nvSpPr>
        <p:spPr>
          <a:xfrm>
            <a:off x="5943600" y="1508760"/>
            <a:ext cx="5333695" cy="274320"/>
          </a:xfrm>
          <a:prstGeom prst="rect">
            <a:avLst/>
          </a:prstGeom>
          <a:noFill/>
        </p:spPr>
        <p:txBody>
          <a:bodyPr wrap="square" rtlCol="0" anchor="ctr"/>
          <a:lstStyle/>
          <a:p>
            <a:pPr marL="0" indent="0">
              <a:buNone/>
            </a:pPr>
            <a:r>
              <a:rPr lang="en-US" sz="1050" i="1" dirty="0">
                <a:solidFill>
                  <a:srgbClr val="9FB7CB"/>
                </a:solidFill>
                <a:latin typeface="Calibri" panose="020F0502020204030204" pitchFamily="34" charset="0"/>
                <a:ea typeface="Calibri" panose="020F0502020204030204" pitchFamily="34" charset="-122"/>
                <a:cs typeface="Calibri" panose="020F0502020204030204" pitchFamily="34" charset="-120"/>
              </a:rPr>
              <a:t>load_data.py</a:t>
            </a:r>
            <a:endParaRPr lang="en-US" sz="1050" dirty="0"/>
          </a:p>
        </p:txBody>
      </p:sp>
      <p:sp>
        <p:nvSpPr>
          <p:cNvPr id="29" name="Text 22"/>
          <p:cNvSpPr/>
          <p:nvPr/>
        </p:nvSpPr>
        <p:spPr>
          <a:xfrm>
            <a:off x="5440680" y="1874520"/>
            <a:ext cx="5790895" cy="1280160"/>
          </a:xfrm>
          <a:prstGeom prst="rect">
            <a:avLst/>
          </a:prstGeom>
          <a:noFill/>
        </p:spPr>
        <p:txBody>
          <a:bodyPr wrap="square" lIns="0" tIns="0" rIns="0" bIns="0" rtlCol="0" anchor="t"/>
          <a:lstStyle/>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import </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pandas </a:t>
            </a: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as </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pd</a:t>
            </a:r>
            <a:endParaRPr lang="en-US" sz="1250" dirty="0"/>
          </a:p>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import </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numpy </a:t>
            </a: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as </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np</a:t>
            </a:r>
            <a:endParaRPr lang="en-US" sz="1250" dirty="0"/>
          </a:p>
          <a:p>
            <a:pPr marL="0" indent="0">
              <a:lnSpc>
                <a:spcPct val="115000"/>
              </a:lnSpc>
              <a:buNone/>
            </a:pPr>
            <a:endParaRPr lang="en-US" sz="1250" dirty="0"/>
          </a:p>
          <a:p>
            <a:pPr marL="0" indent="0">
              <a:lnSpc>
                <a:spcPct val="115000"/>
              </a:lnSpc>
              <a:buNone/>
            </a:pP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df </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 </a:t>
            </a:r>
            <a:r>
              <a:rPr lang="en-US" sz="1250" dirty="0">
                <a:solidFill>
                  <a:srgbClr val="F5A623"/>
                </a:solidFill>
                <a:latin typeface="Courier New" panose="02070309020205020404" pitchFamily="34" charset="0"/>
                <a:ea typeface="Courier New" panose="02070309020205020404" pitchFamily="34" charset="-122"/>
                <a:cs typeface="Courier New" panose="02070309020205020404" pitchFamily="34" charset="-120"/>
              </a:rPr>
              <a:t>pd</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.read_excel(</a:t>
            </a:r>
            <a:endParaRPr lang="en-US" sz="1250" dirty="0"/>
          </a:p>
          <a:p>
            <a:pPr marL="0" indent="0">
              <a:lnSpc>
                <a:spcPct val="115000"/>
              </a:lnSpc>
              <a:buNone/>
            </a:pPr>
            <a:r>
              <a:rPr lang="en-US" sz="12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    "/content/T_ONTIME_REPORTING.xlsx",</a:t>
            </a:r>
            <a:endParaRPr lang="en-US" sz="1250" dirty="0"/>
          </a:p>
          <a:p>
            <a:pPr marL="0" indent="0">
              <a:lnSpc>
                <a:spcPct val="115000"/>
              </a:lnSpc>
              <a:buNone/>
            </a:pP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    engine</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a:t>
            </a:r>
            <a:r>
              <a:rPr lang="en-US" sz="12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'openpyxl'</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50" dirty="0"/>
          </a:p>
        </p:txBody>
      </p:sp>
      <p:sp>
        <p:nvSpPr>
          <p:cNvPr id="30" name="Shape 23"/>
          <p:cNvSpPr/>
          <p:nvPr/>
        </p:nvSpPr>
        <p:spPr>
          <a:xfrm>
            <a:off x="5120640" y="3520440"/>
            <a:ext cx="6430975" cy="2514600"/>
          </a:xfrm>
          <a:prstGeom prst="roundRect">
            <a:avLst>
              <a:gd name="adj" fmla="val 2909"/>
            </a:avLst>
          </a:prstGeom>
          <a:solidFill>
            <a:srgbClr val="0D2438"/>
          </a:solidFill>
          <a:effectLst>
            <a:outerShdw blurRad="76200" dist="25400" dir="5400000" algn="bl" rotWithShape="0">
              <a:srgbClr val="9DB3C2">
                <a:alpha val="30000"/>
              </a:srgbClr>
            </a:outerShdw>
          </a:effectLst>
        </p:spPr>
      </p:sp>
      <p:sp>
        <p:nvSpPr>
          <p:cNvPr id="31" name="Shape 24"/>
          <p:cNvSpPr/>
          <p:nvPr/>
        </p:nvSpPr>
        <p:spPr>
          <a:xfrm>
            <a:off x="5321808" y="3685032"/>
            <a:ext cx="118872" cy="118872"/>
          </a:xfrm>
          <a:prstGeom prst="ellipse">
            <a:avLst/>
          </a:prstGeom>
          <a:solidFill>
            <a:srgbClr val="F5544D"/>
          </a:solidFill>
        </p:spPr>
      </p:sp>
      <p:sp>
        <p:nvSpPr>
          <p:cNvPr id="32" name="Shape 25"/>
          <p:cNvSpPr/>
          <p:nvPr/>
        </p:nvSpPr>
        <p:spPr>
          <a:xfrm>
            <a:off x="5541264" y="3685032"/>
            <a:ext cx="118872" cy="118872"/>
          </a:xfrm>
          <a:prstGeom prst="ellipse">
            <a:avLst/>
          </a:prstGeom>
          <a:solidFill>
            <a:srgbClr val="F5A623"/>
          </a:solidFill>
        </p:spPr>
      </p:sp>
      <p:sp>
        <p:nvSpPr>
          <p:cNvPr id="33" name="Shape 26"/>
          <p:cNvSpPr/>
          <p:nvPr/>
        </p:nvSpPr>
        <p:spPr>
          <a:xfrm>
            <a:off x="5760720" y="3685032"/>
            <a:ext cx="118872" cy="118872"/>
          </a:xfrm>
          <a:prstGeom prst="ellipse">
            <a:avLst/>
          </a:prstGeom>
          <a:solidFill>
            <a:srgbClr val="3FC96B"/>
          </a:solidFill>
        </p:spPr>
      </p:sp>
      <p:sp>
        <p:nvSpPr>
          <p:cNvPr id="34" name="Text 27"/>
          <p:cNvSpPr/>
          <p:nvPr/>
        </p:nvSpPr>
        <p:spPr>
          <a:xfrm>
            <a:off x="5943600" y="3611880"/>
            <a:ext cx="5333695" cy="274320"/>
          </a:xfrm>
          <a:prstGeom prst="rect">
            <a:avLst/>
          </a:prstGeom>
          <a:noFill/>
        </p:spPr>
        <p:txBody>
          <a:bodyPr wrap="square" rtlCol="0" anchor="ctr"/>
          <a:lstStyle/>
          <a:p>
            <a:pPr marL="0" indent="0">
              <a:buNone/>
            </a:pPr>
            <a:r>
              <a:rPr lang="en-US" sz="1050" i="1" dirty="0">
                <a:solidFill>
                  <a:srgbClr val="9FB7CB"/>
                </a:solidFill>
                <a:latin typeface="Calibri" panose="020F0502020204030204" pitchFamily="34" charset="0"/>
                <a:ea typeface="Calibri" panose="020F0502020204030204" pitchFamily="34" charset="-122"/>
                <a:cs typeface="Calibri" panose="020F0502020204030204" pitchFamily="34" charset="-120"/>
              </a:rPr>
              <a:t>convert_time.py</a:t>
            </a:r>
            <a:endParaRPr lang="en-US" sz="1050" dirty="0"/>
          </a:p>
        </p:txBody>
      </p:sp>
      <p:sp>
        <p:nvSpPr>
          <p:cNvPr id="35" name="Text 28"/>
          <p:cNvSpPr/>
          <p:nvPr/>
        </p:nvSpPr>
        <p:spPr>
          <a:xfrm>
            <a:off x="5440680" y="3977640"/>
            <a:ext cx="5790895" cy="1874520"/>
          </a:xfrm>
          <a:prstGeom prst="rect">
            <a:avLst/>
          </a:prstGeom>
          <a:noFill/>
        </p:spPr>
        <p:txBody>
          <a:bodyPr wrap="square" lIns="0" tIns="0" rIns="0" bIns="0" rtlCol="0" anchor="t"/>
          <a:lstStyle/>
          <a:p>
            <a:pPr marL="0" indent="0">
              <a:lnSpc>
                <a:spcPct val="115000"/>
              </a:lnSpc>
              <a:buNone/>
            </a:pPr>
            <a:r>
              <a:rPr lang="en-US" sz="1250" dirty="0">
                <a:solidFill>
                  <a:srgbClr val="6C8AA0"/>
                </a:solidFill>
                <a:latin typeface="Courier New" panose="02070309020205020404" pitchFamily="34" charset="0"/>
                <a:ea typeface="Courier New" panose="02070309020205020404" pitchFamily="34" charset="-122"/>
                <a:cs typeface="Courier New" panose="02070309020205020404" pitchFamily="34" charset="-120"/>
              </a:rPr>
              <a:t># CRS_DEP_TIME / CRS_ARR_TIME  -&gt;  "HH:MM"</a:t>
            </a:r>
            <a:endParaRPr lang="en-US" sz="1250" dirty="0"/>
          </a:p>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def </a:t>
            </a:r>
            <a:r>
              <a:rPr lang="en-US" sz="1250" dirty="0">
                <a:solidFill>
                  <a:srgbClr val="F5A623"/>
                </a:solidFill>
                <a:latin typeface="Courier New" panose="02070309020205020404" pitchFamily="34" charset="0"/>
                <a:ea typeface="Courier New" panose="02070309020205020404" pitchFamily="34" charset="-122"/>
                <a:cs typeface="Courier New" panose="02070309020205020404" pitchFamily="34" charset="-120"/>
              </a:rPr>
              <a:t>convert_time</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(value):</a:t>
            </a:r>
            <a:endParaRPr lang="en-US" sz="1250" dirty="0"/>
          </a:p>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    if </a:t>
            </a:r>
            <a:r>
              <a:rPr lang="en-US" sz="1250" dirty="0">
                <a:solidFill>
                  <a:srgbClr val="F5A623"/>
                </a:solidFill>
                <a:latin typeface="Courier New" panose="02070309020205020404" pitchFamily="34" charset="0"/>
                <a:ea typeface="Courier New" panose="02070309020205020404" pitchFamily="34" charset="-122"/>
                <a:cs typeface="Courier New" panose="02070309020205020404" pitchFamily="34" charset="-120"/>
              </a:rPr>
              <a:t>pd</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.isna(value):</a:t>
            </a:r>
            <a:endParaRPr lang="en-US" sz="1250" dirty="0"/>
          </a:p>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        return </a:t>
            </a:r>
            <a:r>
              <a:rPr lang="en-US" sz="1250" dirty="0">
                <a:solidFill>
                  <a:srgbClr val="F5A623"/>
                </a:solidFill>
                <a:latin typeface="Courier New" panose="02070309020205020404" pitchFamily="34" charset="0"/>
                <a:ea typeface="Courier New" panose="02070309020205020404" pitchFamily="34" charset="-122"/>
                <a:cs typeface="Courier New" panose="02070309020205020404" pitchFamily="34" charset="-120"/>
              </a:rPr>
              <a:t>np</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.nan</a:t>
            </a:r>
            <a:endParaRPr lang="en-US" sz="1250" dirty="0"/>
          </a:p>
          <a:p>
            <a:pPr marL="0" indent="0">
              <a:lnSpc>
                <a:spcPct val="115000"/>
              </a:lnSpc>
              <a:buNone/>
            </a:pP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    value = </a:t>
            </a:r>
            <a:r>
              <a:rPr lang="en-US" sz="1250" dirty="0">
                <a:solidFill>
                  <a:srgbClr val="F5A623"/>
                </a:solidFill>
                <a:latin typeface="Courier New" panose="02070309020205020404" pitchFamily="34" charset="0"/>
                <a:ea typeface="Courier New" panose="02070309020205020404" pitchFamily="34" charset="-122"/>
                <a:cs typeface="Courier New" panose="02070309020205020404" pitchFamily="34" charset="-120"/>
              </a:rPr>
              <a:t>int</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(value)</a:t>
            </a:r>
            <a:endParaRPr lang="en-US" sz="1250" dirty="0"/>
          </a:p>
          <a:p>
            <a:pPr marL="0" indent="0">
              <a:lnSpc>
                <a:spcPct val="115000"/>
              </a:lnSpc>
              <a:buNone/>
            </a:pP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    hour, minute = value // </a:t>
            </a:r>
            <a:r>
              <a:rPr lang="en-US" sz="12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100</a:t>
            </a:r>
            <a:r>
              <a:rPr lang="en-US" sz="1250" dirty="0">
                <a:solidFill>
                  <a:srgbClr val="E8F1F7"/>
                </a:solidFill>
                <a:latin typeface="Courier New" panose="02070309020205020404" pitchFamily="34" charset="0"/>
                <a:ea typeface="Courier New" panose="02070309020205020404" pitchFamily="34" charset="-122"/>
                <a:cs typeface="Courier New" panose="02070309020205020404" pitchFamily="34" charset="-120"/>
              </a:rPr>
              <a:t>, value % </a:t>
            </a:r>
            <a:r>
              <a:rPr lang="en-US" sz="12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100</a:t>
            </a:r>
            <a:endParaRPr lang="en-US" sz="1250" dirty="0"/>
          </a:p>
          <a:p>
            <a:pPr marL="0" indent="0">
              <a:lnSpc>
                <a:spcPct val="115000"/>
              </a:lnSpc>
              <a:buNone/>
            </a:pPr>
            <a:r>
              <a:rPr lang="en-US" sz="1250" dirty="0">
                <a:solidFill>
                  <a:srgbClr val="6FD3F7"/>
                </a:solidFill>
                <a:latin typeface="Courier New" panose="02070309020205020404" pitchFamily="34" charset="0"/>
                <a:ea typeface="Courier New" panose="02070309020205020404" pitchFamily="34" charset="-122"/>
                <a:cs typeface="Courier New" panose="02070309020205020404" pitchFamily="34" charset="-120"/>
              </a:rPr>
              <a:t>    return </a:t>
            </a:r>
            <a:r>
              <a:rPr lang="en-US" sz="12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f"{hour:02d}:{minute:02d}"</a:t>
            </a:r>
            <a:endParaRPr lang="en-US" sz="1250" dirty="0"/>
          </a:p>
        </p:txBody>
      </p:sp>
      <p:sp>
        <p:nvSpPr>
          <p:cNvPr id="36" name="Shape 29"/>
          <p:cNvSpPr/>
          <p:nvPr/>
        </p:nvSpPr>
        <p:spPr>
          <a:xfrm>
            <a:off x="723748" y="6080760"/>
            <a:ext cx="2514600" cy="566928"/>
          </a:xfrm>
          <a:prstGeom prst="roundRect">
            <a:avLst>
              <a:gd name="adj" fmla="val 16129"/>
            </a:avLst>
          </a:prstGeom>
          <a:solidFill>
            <a:srgbClr val="FFFFFF"/>
          </a:solidFill>
          <a:ln w="12700">
            <a:solidFill>
              <a:srgbClr val="DCE6ED"/>
            </a:solidFill>
            <a:prstDash val="solid"/>
          </a:ln>
        </p:spPr>
      </p:sp>
      <p:sp>
        <p:nvSpPr>
          <p:cNvPr id="37" name="Shape 30"/>
          <p:cNvSpPr/>
          <p:nvPr/>
        </p:nvSpPr>
        <p:spPr>
          <a:xfrm>
            <a:off x="851764" y="6199632"/>
            <a:ext cx="384048" cy="384048"/>
          </a:xfrm>
          <a:prstGeom prst="ellipse">
            <a:avLst/>
          </a:prstGeom>
          <a:solidFill>
            <a:srgbClr val="1C7293"/>
          </a:solidFill>
        </p:spPr>
      </p:sp>
      <p:pic>
        <p:nvPicPr>
          <p:cNvPr id="38" name="Image 5" descr="preencoded.png"/>
          <p:cNvPicPr>
            <a:picLocks noChangeAspect="1"/>
          </p:cNvPicPr>
          <p:nvPr/>
        </p:nvPicPr>
        <p:blipFill>
          <a:blip r:embed="rId6"/>
          <a:stretch>
            <a:fillRect/>
          </a:stretch>
        </p:blipFill>
        <p:spPr>
          <a:xfrm>
            <a:off x="938632" y="6286500"/>
            <a:ext cx="210312" cy="210312"/>
          </a:xfrm>
          <a:prstGeom prst="rect">
            <a:avLst/>
          </a:prstGeom>
        </p:spPr>
      </p:pic>
      <p:sp>
        <p:nvSpPr>
          <p:cNvPr id="39" name="Text 31"/>
          <p:cNvSpPr/>
          <p:nvPr/>
        </p:nvSpPr>
        <p:spPr>
          <a:xfrm>
            <a:off x="1318108" y="6135624"/>
            <a:ext cx="1828800" cy="274320"/>
          </a:xfrm>
          <a:prstGeom prst="rect">
            <a:avLst/>
          </a:prstGeom>
          <a:noFill/>
        </p:spPr>
        <p:txBody>
          <a:bodyPr wrap="square" rtlCol="0" anchor="ctr"/>
          <a:lstStyle/>
          <a:p>
            <a:pPr marL="0" indent="0">
              <a:buNone/>
            </a:pPr>
            <a:r>
              <a:rPr lang="en-US" sz="1050" b="1" dirty="0">
                <a:solidFill>
                  <a:srgbClr val="132434"/>
                </a:solidFill>
                <a:latin typeface="Calibri" panose="020F0502020204030204" pitchFamily="34" charset="0"/>
                <a:ea typeface="Calibri" panose="020F0502020204030204" pitchFamily="34" charset="-122"/>
                <a:cs typeface="Calibri" panose="020F0502020204030204" pitchFamily="34" charset="-120"/>
              </a:rPr>
              <a:t>Handle Missing Values</a:t>
            </a:r>
            <a:endParaRPr lang="en-US" sz="1050" dirty="0"/>
          </a:p>
        </p:txBody>
      </p:sp>
      <p:sp>
        <p:nvSpPr>
          <p:cNvPr id="40" name="Text 32"/>
          <p:cNvSpPr/>
          <p:nvPr/>
        </p:nvSpPr>
        <p:spPr>
          <a:xfrm>
            <a:off x="1318108" y="6391656"/>
            <a:ext cx="1828800" cy="274320"/>
          </a:xfrm>
          <a:prstGeom prst="rect">
            <a:avLst/>
          </a:prstGeom>
          <a:noFill/>
        </p:spPr>
        <p:txBody>
          <a:bodyPr wrap="square" rtlCol="0" anchor="ctr"/>
          <a:lstStyle/>
          <a:p>
            <a:pPr marL="0" indent="0">
              <a:buNone/>
            </a:pPr>
            <a:r>
              <a:rPr lang="en-US" sz="850" dirty="0">
                <a:solidFill>
                  <a:srgbClr val="5B7285"/>
                </a:solidFill>
                <a:latin typeface="Calibri" panose="020F0502020204030204" pitchFamily="34" charset="0"/>
                <a:ea typeface="Calibri" panose="020F0502020204030204" pitchFamily="34" charset="-122"/>
                <a:cs typeface="Calibri" panose="020F0502020204030204" pitchFamily="34" charset="-120"/>
              </a:rPr>
              <a:t>median / mean imputation</a:t>
            </a:r>
            <a:endParaRPr lang="en-US" sz="850" dirty="0"/>
          </a:p>
        </p:txBody>
      </p:sp>
      <p:pic>
        <p:nvPicPr>
          <p:cNvPr id="41" name="Image 6" descr="preencoded.png"/>
          <p:cNvPicPr>
            <a:picLocks noChangeAspect="1"/>
          </p:cNvPicPr>
          <p:nvPr/>
        </p:nvPicPr>
        <p:blipFill>
          <a:blip r:embed="rId7"/>
          <a:stretch>
            <a:fillRect/>
          </a:stretch>
        </p:blipFill>
        <p:spPr>
          <a:xfrm>
            <a:off x="3256636" y="6281928"/>
            <a:ext cx="164592" cy="164592"/>
          </a:xfrm>
          <a:prstGeom prst="rect">
            <a:avLst/>
          </a:prstGeom>
        </p:spPr>
      </p:pic>
      <p:sp>
        <p:nvSpPr>
          <p:cNvPr id="42" name="Shape 33"/>
          <p:cNvSpPr/>
          <p:nvPr/>
        </p:nvSpPr>
        <p:spPr>
          <a:xfrm>
            <a:off x="3466948" y="6080760"/>
            <a:ext cx="2514600" cy="566928"/>
          </a:xfrm>
          <a:prstGeom prst="roundRect">
            <a:avLst>
              <a:gd name="adj" fmla="val 16129"/>
            </a:avLst>
          </a:prstGeom>
          <a:solidFill>
            <a:srgbClr val="FFFFFF"/>
          </a:solidFill>
          <a:ln w="12700">
            <a:solidFill>
              <a:srgbClr val="DCE6ED"/>
            </a:solidFill>
            <a:prstDash val="solid"/>
          </a:ln>
        </p:spPr>
      </p:sp>
      <p:sp>
        <p:nvSpPr>
          <p:cNvPr id="43" name="Shape 34"/>
          <p:cNvSpPr/>
          <p:nvPr/>
        </p:nvSpPr>
        <p:spPr>
          <a:xfrm>
            <a:off x="3594964" y="6199632"/>
            <a:ext cx="384048" cy="384048"/>
          </a:xfrm>
          <a:prstGeom prst="ellipse">
            <a:avLst/>
          </a:prstGeom>
          <a:solidFill>
            <a:srgbClr val="1C7293"/>
          </a:solidFill>
        </p:spPr>
      </p:sp>
      <p:pic>
        <p:nvPicPr>
          <p:cNvPr id="44" name="Image 7" descr="preencoded.png"/>
          <p:cNvPicPr>
            <a:picLocks noChangeAspect="1"/>
          </p:cNvPicPr>
          <p:nvPr/>
        </p:nvPicPr>
        <p:blipFill>
          <a:blip r:embed="rId8"/>
          <a:stretch>
            <a:fillRect/>
          </a:stretch>
        </p:blipFill>
        <p:spPr>
          <a:xfrm>
            <a:off x="3681832" y="6286500"/>
            <a:ext cx="210312" cy="210312"/>
          </a:xfrm>
          <a:prstGeom prst="rect">
            <a:avLst/>
          </a:prstGeom>
        </p:spPr>
      </p:pic>
      <p:sp>
        <p:nvSpPr>
          <p:cNvPr id="45" name="Text 35"/>
          <p:cNvSpPr/>
          <p:nvPr/>
        </p:nvSpPr>
        <p:spPr>
          <a:xfrm>
            <a:off x="4061308" y="6135624"/>
            <a:ext cx="1828800" cy="274320"/>
          </a:xfrm>
          <a:prstGeom prst="rect">
            <a:avLst/>
          </a:prstGeom>
          <a:noFill/>
        </p:spPr>
        <p:txBody>
          <a:bodyPr wrap="square" rtlCol="0" anchor="ctr"/>
          <a:lstStyle/>
          <a:p>
            <a:pPr marL="0" indent="0">
              <a:buNone/>
            </a:pPr>
            <a:r>
              <a:rPr lang="en-US" sz="1050" b="1" dirty="0">
                <a:solidFill>
                  <a:srgbClr val="132434"/>
                </a:solidFill>
                <a:latin typeface="Calibri" panose="020F0502020204030204" pitchFamily="34" charset="0"/>
                <a:ea typeface="Calibri" panose="020F0502020204030204" pitchFamily="34" charset="-122"/>
                <a:cs typeface="Calibri" panose="020F0502020204030204" pitchFamily="34" charset="-120"/>
              </a:rPr>
              <a:t>Recompute Delay Flags</a:t>
            </a:r>
            <a:endParaRPr lang="en-US" sz="1050" dirty="0"/>
          </a:p>
        </p:txBody>
      </p:sp>
      <p:sp>
        <p:nvSpPr>
          <p:cNvPr id="46" name="Text 36"/>
          <p:cNvSpPr/>
          <p:nvPr/>
        </p:nvSpPr>
        <p:spPr>
          <a:xfrm>
            <a:off x="4061308" y="6391656"/>
            <a:ext cx="1828800" cy="274320"/>
          </a:xfrm>
          <a:prstGeom prst="rect">
            <a:avLst/>
          </a:prstGeom>
          <a:noFill/>
        </p:spPr>
        <p:txBody>
          <a:bodyPr wrap="square" rtlCol="0" anchor="ctr"/>
          <a:lstStyle/>
          <a:p>
            <a:pPr marL="0" indent="0">
              <a:buNone/>
            </a:pPr>
            <a:r>
              <a:rPr lang="en-US" sz="850" dirty="0">
                <a:solidFill>
                  <a:srgbClr val="5B7285"/>
                </a:solidFill>
                <a:latin typeface="Calibri" panose="020F0502020204030204" pitchFamily="34" charset="0"/>
                <a:ea typeface="Calibri" panose="020F0502020204030204" pitchFamily="34" charset="-122"/>
                <a:cs typeface="Calibri" panose="020F0502020204030204" pitchFamily="34" charset="-120"/>
              </a:rPr>
              <a:t>DEP_DEL15 &amp; ARR_DEL15</a:t>
            </a:r>
            <a:endParaRPr lang="en-US" sz="850" dirty="0"/>
          </a:p>
        </p:txBody>
      </p:sp>
      <p:pic>
        <p:nvPicPr>
          <p:cNvPr id="47" name="Image 8" descr="preencoded.png"/>
          <p:cNvPicPr>
            <a:picLocks noChangeAspect="1"/>
          </p:cNvPicPr>
          <p:nvPr/>
        </p:nvPicPr>
        <p:blipFill>
          <a:blip r:embed="rId7"/>
          <a:stretch>
            <a:fillRect/>
          </a:stretch>
        </p:blipFill>
        <p:spPr>
          <a:xfrm>
            <a:off x="5999836" y="6281928"/>
            <a:ext cx="164592" cy="164592"/>
          </a:xfrm>
          <a:prstGeom prst="rect">
            <a:avLst/>
          </a:prstGeom>
        </p:spPr>
      </p:pic>
      <p:sp>
        <p:nvSpPr>
          <p:cNvPr id="48" name="Shape 37"/>
          <p:cNvSpPr/>
          <p:nvPr/>
        </p:nvSpPr>
        <p:spPr>
          <a:xfrm>
            <a:off x="6210148" y="6080760"/>
            <a:ext cx="2514600" cy="566928"/>
          </a:xfrm>
          <a:prstGeom prst="roundRect">
            <a:avLst>
              <a:gd name="adj" fmla="val 16129"/>
            </a:avLst>
          </a:prstGeom>
          <a:solidFill>
            <a:srgbClr val="FFFFFF"/>
          </a:solidFill>
          <a:ln w="12700">
            <a:solidFill>
              <a:srgbClr val="DCE6ED"/>
            </a:solidFill>
            <a:prstDash val="solid"/>
          </a:ln>
        </p:spPr>
      </p:sp>
      <p:sp>
        <p:nvSpPr>
          <p:cNvPr id="49" name="Shape 38"/>
          <p:cNvSpPr/>
          <p:nvPr/>
        </p:nvSpPr>
        <p:spPr>
          <a:xfrm>
            <a:off x="6338164" y="6199632"/>
            <a:ext cx="384048" cy="384048"/>
          </a:xfrm>
          <a:prstGeom prst="ellipse">
            <a:avLst/>
          </a:prstGeom>
          <a:solidFill>
            <a:srgbClr val="1C7293"/>
          </a:solidFill>
        </p:spPr>
      </p:sp>
      <p:pic>
        <p:nvPicPr>
          <p:cNvPr id="50" name="Image 9" descr="preencoded.png"/>
          <p:cNvPicPr>
            <a:picLocks noChangeAspect="1"/>
          </p:cNvPicPr>
          <p:nvPr/>
        </p:nvPicPr>
        <p:blipFill>
          <a:blip r:embed="rId9"/>
          <a:stretch>
            <a:fillRect/>
          </a:stretch>
        </p:blipFill>
        <p:spPr>
          <a:xfrm>
            <a:off x="6425032" y="6286500"/>
            <a:ext cx="210312" cy="210312"/>
          </a:xfrm>
          <a:prstGeom prst="rect">
            <a:avLst/>
          </a:prstGeom>
        </p:spPr>
      </p:pic>
      <p:sp>
        <p:nvSpPr>
          <p:cNvPr id="51" name="Text 39"/>
          <p:cNvSpPr/>
          <p:nvPr/>
        </p:nvSpPr>
        <p:spPr>
          <a:xfrm>
            <a:off x="6804508" y="6135624"/>
            <a:ext cx="1828800" cy="274320"/>
          </a:xfrm>
          <a:prstGeom prst="rect">
            <a:avLst/>
          </a:prstGeom>
          <a:noFill/>
        </p:spPr>
        <p:txBody>
          <a:bodyPr wrap="square" rtlCol="0" anchor="ctr"/>
          <a:lstStyle/>
          <a:p>
            <a:pPr marL="0" indent="0">
              <a:buNone/>
            </a:pPr>
            <a:r>
              <a:rPr lang="en-US" sz="1050" b="1" dirty="0">
                <a:solidFill>
                  <a:srgbClr val="132434"/>
                </a:solidFill>
                <a:latin typeface="Calibri" panose="020F0502020204030204" pitchFamily="34" charset="0"/>
                <a:ea typeface="Calibri" panose="020F0502020204030204" pitchFamily="34" charset="-122"/>
                <a:cs typeface="Calibri" panose="020F0502020204030204" pitchFamily="34" charset="-120"/>
              </a:rPr>
              <a:t>Standardize Time Format</a:t>
            </a:r>
            <a:endParaRPr lang="en-US" sz="1050" dirty="0"/>
          </a:p>
        </p:txBody>
      </p:sp>
      <p:sp>
        <p:nvSpPr>
          <p:cNvPr id="52" name="Text 40"/>
          <p:cNvSpPr/>
          <p:nvPr/>
        </p:nvSpPr>
        <p:spPr>
          <a:xfrm>
            <a:off x="6804508" y="6391656"/>
            <a:ext cx="1828800" cy="274320"/>
          </a:xfrm>
          <a:prstGeom prst="rect">
            <a:avLst/>
          </a:prstGeom>
          <a:noFill/>
        </p:spPr>
        <p:txBody>
          <a:bodyPr wrap="square" rtlCol="0" anchor="ctr"/>
          <a:lstStyle/>
          <a:p>
            <a:pPr marL="0" indent="0">
              <a:buNone/>
            </a:pPr>
            <a:r>
              <a:rPr lang="en-US" sz="850" dirty="0">
                <a:solidFill>
                  <a:srgbClr val="5B7285"/>
                </a:solidFill>
                <a:latin typeface="Calibri" panose="020F0502020204030204" pitchFamily="34" charset="0"/>
                <a:ea typeface="Calibri" panose="020F0502020204030204" pitchFamily="34" charset="-122"/>
                <a:cs typeface="Calibri" panose="020F0502020204030204" pitchFamily="34" charset="-120"/>
              </a:rPr>
              <a:t>HH:MM readable times</a:t>
            </a:r>
            <a:endParaRPr lang="en-US" sz="850" dirty="0"/>
          </a:p>
        </p:txBody>
      </p:sp>
      <p:pic>
        <p:nvPicPr>
          <p:cNvPr id="53" name="Image 10" descr="preencoded.png"/>
          <p:cNvPicPr>
            <a:picLocks noChangeAspect="1"/>
          </p:cNvPicPr>
          <p:nvPr/>
        </p:nvPicPr>
        <p:blipFill>
          <a:blip r:embed="rId7"/>
          <a:stretch>
            <a:fillRect/>
          </a:stretch>
        </p:blipFill>
        <p:spPr>
          <a:xfrm>
            <a:off x="8743036" y="6281928"/>
            <a:ext cx="164592" cy="164592"/>
          </a:xfrm>
          <a:prstGeom prst="rect">
            <a:avLst/>
          </a:prstGeom>
        </p:spPr>
      </p:pic>
      <p:sp>
        <p:nvSpPr>
          <p:cNvPr id="54" name="Shape 41"/>
          <p:cNvSpPr/>
          <p:nvPr/>
        </p:nvSpPr>
        <p:spPr>
          <a:xfrm>
            <a:off x="8953348" y="6080760"/>
            <a:ext cx="2514600" cy="566928"/>
          </a:xfrm>
          <a:prstGeom prst="roundRect">
            <a:avLst>
              <a:gd name="adj" fmla="val 16129"/>
            </a:avLst>
          </a:prstGeom>
          <a:solidFill>
            <a:srgbClr val="FFFFFF"/>
          </a:solidFill>
          <a:ln w="12700">
            <a:solidFill>
              <a:srgbClr val="DCE6ED"/>
            </a:solidFill>
            <a:prstDash val="solid"/>
          </a:ln>
        </p:spPr>
      </p:sp>
      <p:sp>
        <p:nvSpPr>
          <p:cNvPr id="55" name="Shape 42"/>
          <p:cNvSpPr/>
          <p:nvPr/>
        </p:nvSpPr>
        <p:spPr>
          <a:xfrm>
            <a:off x="9081364" y="6199632"/>
            <a:ext cx="384048" cy="384048"/>
          </a:xfrm>
          <a:prstGeom prst="ellipse">
            <a:avLst/>
          </a:prstGeom>
          <a:solidFill>
            <a:srgbClr val="1C7293"/>
          </a:solidFill>
        </p:spPr>
      </p:sp>
      <p:pic>
        <p:nvPicPr>
          <p:cNvPr id="56" name="Image 11" descr="preencoded.png"/>
          <p:cNvPicPr>
            <a:picLocks noChangeAspect="1"/>
          </p:cNvPicPr>
          <p:nvPr/>
        </p:nvPicPr>
        <p:blipFill>
          <a:blip r:embed="rId10"/>
          <a:stretch>
            <a:fillRect/>
          </a:stretch>
        </p:blipFill>
        <p:spPr>
          <a:xfrm>
            <a:off x="9168232" y="6286500"/>
            <a:ext cx="210312" cy="210312"/>
          </a:xfrm>
          <a:prstGeom prst="rect">
            <a:avLst/>
          </a:prstGeom>
        </p:spPr>
      </p:pic>
      <p:sp>
        <p:nvSpPr>
          <p:cNvPr id="57" name="Text 43"/>
          <p:cNvSpPr/>
          <p:nvPr/>
        </p:nvSpPr>
        <p:spPr>
          <a:xfrm>
            <a:off x="9547708" y="6135624"/>
            <a:ext cx="1828800" cy="274320"/>
          </a:xfrm>
          <a:prstGeom prst="rect">
            <a:avLst/>
          </a:prstGeom>
          <a:noFill/>
        </p:spPr>
        <p:txBody>
          <a:bodyPr wrap="square" rtlCol="0" anchor="ctr"/>
          <a:lstStyle/>
          <a:p>
            <a:pPr marL="0" indent="0">
              <a:buNone/>
            </a:pPr>
            <a:r>
              <a:rPr lang="en-US" sz="1050" b="1" dirty="0">
                <a:solidFill>
                  <a:srgbClr val="132434"/>
                </a:solidFill>
                <a:latin typeface="Calibri" panose="020F0502020204030204" pitchFamily="34" charset="0"/>
                <a:ea typeface="Calibri" panose="020F0502020204030204" pitchFamily="34" charset="-122"/>
                <a:cs typeface="Calibri" panose="020F0502020204030204" pitchFamily="34" charset="-120"/>
              </a:rPr>
              <a:t>Rename &amp; Export</a:t>
            </a:r>
            <a:endParaRPr lang="en-US" sz="1050" dirty="0"/>
          </a:p>
        </p:txBody>
      </p:sp>
      <p:sp>
        <p:nvSpPr>
          <p:cNvPr id="58" name="Text 44"/>
          <p:cNvSpPr/>
          <p:nvPr/>
        </p:nvSpPr>
        <p:spPr>
          <a:xfrm>
            <a:off x="9547708" y="6391656"/>
            <a:ext cx="1828800" cy="274320"/>
          </a:xfrm>
          <a:prstGeom prst="rect">
            <a:avLst/>
          </a:prstGeom>
          <a:noFill/>
        </p:spPr>
        <p:txBody>
          <a:bodyPr wrap="square" rtlCol="0" anchor="ctr"/>
          <a:lstStyle/>
          <a:p>
            <a:pPr marL="0" indent="0">
              <a:buNone/>
            </a:pPr>
            <a:r>
              <a:rPr lang="en-US" sz="850" dirty="0">
                <a:solidFill>
                  <a:srgbClr val="5B7285"/>
                </a:solidFill>
                <a:latin typeface="Calibri" panose="020F0502020204030204" pitchFamily="34" charset="0"/>
                <a:ea typeface="Calibri" panose="020F0502020204030204" pitchFamily="34" charset="-122"/>
                <a:cs typeface="Calibri" panose="020F0502020204030204" pitchFamily="34" charset="-120"/>
              </a:rPr>
              <a:t>cleaned_flight_data.csv</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Machine Learning Modeling</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Phase 5 — feature preparation, train/test split and the two candidate models</a:t>
            </a:r>
            <a:endParaRPr sz="1250" b="0" i="1">
              <a:solidFill>
                <a:srgbClr val="5B7285"/>
              </a:solidFill>
              <a:latin typeface="Calibri" panose="020F0502020204030204"/>
            </a:endParaRPr>
          </a:p>
        </p:txBody>
      </p:sp>
      <p:sp>
        <p:nvSpPr>
          <p:cNvPr id="5" name="TextBox 4"/>
          <p:cNvSpPr txBox="1"/>
          <p:nvPr/>
        </p:nvSpPr>
        <p:spPr>
          <a:xfrm>
            <a:off x="640080" y="1371600"/>
            <a:ext cx="9144000" cy="274320"/>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panose="020F0502020204030204"/>
              </a:rPr>
              <a:t>FEATURE &amp; SPLIT PIPELINE</a:t>
            </a:r>
            <a:endParaRPr sz="1150" b="1" i="0">
              <a:solidFill>
                <a:srgbClr val="1C7293"/>
              </a:solidFill>
              <a:latin typeface="Calibri" panose="020F0502020204030204"/>
            </a:endParaRPr>
          </a:p>
        </p:txBody>
      </p:sp>
      <p:sp>
        <p:nvSpPr>
          <p:cNvPr id="6" name="Rounded Rectangle 5"/>
          <p:cNvSpPr/>
          <p:nvPr/>
        </p:nvSpPr>
        <p:spPr>
          <a:xfrm>
            <a:off x="449427" y="169164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32307" y="199796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355" y="180136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Remove Cancelled Flights</a:t>
            </a:r>
            <a:endParaRPr sz="1250" b="1" i="0">
              <a:solidFill>
                <a:srgbClr val="132434"/>
              </a:solidFill>
              <a:latin typeface="Calibri" panose="020F0502020204030204"/>
            </a:endParaRPr>
          </a:p>
        </p:txBody>
      </p:sp>
      <p:sp>
        <p:nvSpPr>
          <p:cNvPr id="9" name="TextBox 8"/>
          <p:cNvSpPr txBox="1"/>
          <p:nvPr/>
        </p:nvSpPr>
        <p:spPr>
          <a:xfrm>
            <a:off x="1016355" y="211226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25,635 cancelled records excluded before modelling</a:t>
            </a:r>
            <a:endParaRPr sz="950" b="0" i="0">
              <a:solidFill>
                <a:srgbClr val="5B7285"/>
              </a:solidFill>
              <a:latin typeface="Calibri" panose="020F0502020204030204"/>
            </a:endParaRPr>
          </a:p>
        </p:txBody>
      </p:sp>
      <p:sp>
        <p:nvSpPr>
          <p:cNvPr id="10" name="Rounded Rectangle 9"/>
          <p:cNvSpPr/>
          <p:nvPr/>
        </p:nvSpPr>
        <p:spPr>
          <a:xfrm>
            <a:off x="4289907" y="169164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72787" y="199796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56835" y="180136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Drop Leakage-Prone Columns</a:t>
            </a:r>
            <a:endParaRPr sz="1250" b="1" i="0">
              <a:solidFill>
                <a:srgbClr val="132434"/>
              </a:solidFill>
              <a:latin typeface="Calibri" panose="020F0502020204030204"/>
            </a:endParaRPr>
          </a:p>
        </p:txBody>
      </p:sp>
      <p:sp>
        <p:nvSpPr>
          <p:cNvPr id="13" name="TextBox 12"/>
          <p:cNvSpPr txBox="1"/>
          <p:nvPr/>
        </p:nvSpPr>
        <p:spPr>
          <a:xfrm>
            <a:off x="4856835" y="211226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ARR_DELAY, ACTUAL_ELAPSED_TIME, TAXI_OUT and ID fields removed</a:t>
            </a:r>
            <a:endParaRPr sz="950" b="0" i="0">
              <a:solidFill>
                <a:srgbClr val="5B7285"/>
              </a:solidFill>
              <a:latin typeface="Calibri" panose="020F0502020204030204"/>
            </a:endParaRPr>
          </a:p>
        </p:txBody>
      </p:sp>
      <p:sp>
        <p:nvSpPr>
          <p:cNvPr id="14" name="Rounded Rectangle 13"/>
          <p:cNvSpPr/>
          <p:nvPr/>
        </p:nvSpPr>
        <p:spPr>
          <a:xfrm>
            <a:off x="8130387" y="169164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13267" y="199796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97315" y="180136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Engineer Departure Hour</a:t>
            </a:r>
            <a:endParaRPr sz="1250" b="1" i="0">
              <a:solidFill>
                <a:srgbClr val="132434"/>
              </a:solidFill>
              <a:latin typeface="Calibri" panose="020F0502020204030204"/>
            </a:endParaRPr>
          </a:p>
        </p:txBody>
      </p:sp>
      <p:sp>
        <p:nvSpPr>
          <p:cNvPr id="17" name="TextBox 16"/>
          <p:cNvSpPr txBox="1"/>
          <p:nvPr/>
        </p:nvSpPr>
        <p:spPr>
          <a:xfrm>
            <a:off x="8697315" y="211226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Extracted as an integer from the scheduled departure time</a:t>
            </a:r>
            <a:endParaRPr sz="950" b="0" i="0">
              <a:solidFill>
                <a:srgbClr val="5B7285"/>
              </a:solidFill>
              <a:latin typeface="Calibri" panose="020F0502020204030204"/>
            </a:endParaRPr>
          </a:p>
        </p:txBody>
      </p:sp>
      <p:sp>
        <p:nvSpPr>
          <p:cNvPr id="18" name="Rounded Rectangle 17"/>
          <p:cNvSpPr/>
          <p:nvPr/>
        </p:nvSpPr>
        <p:spPr>
          <a:xfrm>
            <a:off x="449427" y="274320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2307" y="304952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355" y="285292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Encode Categoricals</a:t>
            </a:r>
            <a:endParaRPr sz="1250" b="1" i="0">
              <a:solidFill>
                <a:srgbClr val="132434"/>
              </a:solidFill>
              <a:latin typeface="Calibri" panose="020F0502020204030204"/>
            </a:endParaRPr>
          </a:p>
        </p:txBody>
      </p:sp>
      <p:sp>
        <p:nvSpPr>
          <p:cNvPr id="21" name="TextBox 20"/>
          <p:cNvSpPr txBox="1"/>
          <p:nvPr/>
        </p:nvSpPr>
        <p:spPr>
          <a:xfrm>
            <a:off x="1016355" y="316382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Top-20 carriers / origins / destinations one-hot encoded, rest grouped as "Other"</a:t>
            </a:r>
            <a:endParaRPr sz="950" b="0" i="0">
              <a:solidFill>
                <a:srgbClr val="5B7285"/>
              </a:solidFill>
              <a:latin typeface="Calibri" panose="020F0502020204030204"/>
            </a:endParaRPr>
          </a:p>
        </p:txBody>
      </p:sp>
      <p:sp>
        <p:nvSpPr>
          <p:cNvPr id="22" name="Rounded Rectangle 21"/>
          <p:cNvSpPr/>
          <p:nvPr/>
        </p:nvSpPr>
        <p:spPr>
          <a:xfrm>
            <a:off x="4289907" y="274320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72787" y="304952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56835" y="285292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Stratified Train/Test Split</a:t>
            </a:r>
            <a:endParaRPr sz="1250" b="1" i="0">
              <a:solidFill>
                <a:srgbClr val="132434"/>
              </a:solidFill>
              <a:latin typeface="Calibri" panose="020F0502020204030204"/>
            </a:endParaRPr>
          </a:p>
        </p:txBody>
      </p:sp>
      <p:sp>
        <p:nvSpPr>
          <p:cNvPr id="25" name="TextBox 24"/>
          <p:cNvSpPr txBox="1"/>
          <p:nvPr/>
        </p:nvSpPr>
        <p:spPr>
          <a:xfrm>
            <a:off x="4856835" y="316382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80% train / 20% test, stratified on the target</a:t>
            </a:r>
            <a:endParaRPr sz="950" b="0" i="0">
              <a:solidFill>
                <a:srgbClr val="5B7285"/>
              </a:solidFill>
              <a:latin typeface="Calibri" panose="020F0502020204030204"/>
            </a:endParaRPr>
          </a:p>
        </p:txBody>
      </p:sp>
      <p:sp>
        <p:nvSpPr>
          <p:cNvPr id="26" name="Rounded Rectangle 25"/>
          <p:cNvSpPr/>
          <p:nvPr/>
        </p:nvSpPr>
        <p:spPr>
          <a:xfrm>
            <a:off x="8130387" y="2743200"/>
            <a:ext cx="3611880" cy="868680"/>
          </a:xfrm>
          <a:prstGeom prst="roundRect">
            <a:avLst>
              <a:gd name="adj" fmla="val 8000"/>
            </a:avLst>
          </a:prstGeom>
          <a:solidFill>
            <a:srgbClr val="FFFFFF"/>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13267" y="3049524"/>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97315" y="2852928"/>
            <a:ext cx="2880360" cy="320040"/>
          </a:xfrm>
          <a:prstGeom prst="rect">
            <a:avLst/>
          </a:prstGeom>
          <a:noFill/>
        </p:spPr>
        <p:txBody>
          <a:bodyPr wrap="square" lIns="0" tIns="0" rIns="0" bIns="0" anchor="t">
            <a:spAutoFit/>
          </a:bodyPr>
          <a:lstStyle/>
          <a:p>
            <a:pPr algn="l">
              <a:lnSpc>
                <a:spcPct val="100000"/>
              </a:lnSpc>
            </a:pPr>
            <a:r>
              <a:rPr sz="1250" b="1" i="0">
                <a:solidFill>
                  <a:srgbClr val="132434"/>
                </a:solidFill>
                <a:latin typeface="Calibri" panose="020F0502020204030204"/>
              </a:rPr>
              <a:t>Scale Features</a:t>
            </a:r>
            <a:endParaRPr sz="1250" b="1" i="0">
              <a:solidFill>
                <a:srgbClr val="132434"/>
              </a:solidFill>
              <a:latin typeface="Calibri" panose="020F0502020204030204"/>
            </a:endParaRPr>
          </a:p>
        </p:txBody>
      </p:sp>
      <p:sp>
        <p:nvSpPr>
          <p:cNvPr id="29" name="TextBox 28"/>
          <p:cNvSpPr txBox="1"/>
          <p:nvPr/>
        </p:nvSpPr>
        <p:spPr>
          <a:xfrm>
            <a:off x="8697315" y="3163824"/>
            <a:ext cx="2880360" cy="384048"/>
          </a:xfrm>
          <a:prstGeom prst="rect">
            <a:avLst/>
          </a:prstGeom>
          <a:noFill/>
        </p:spPr>
        <p:txBody>
          <a:bodyPr wrap="square" lIns="0" tIns="0" rIns="0" bIns="0" anchor="t">
            <a:spAutoFit/>
          </a:bodyPr>
          <a:lstStyle/>
          <a:p>
            <a:pPr algn="l">
              <a:lnSpc>
                <a:spcPct val="105000"/>
              </a:lnSpc>
            </a:pPr>
            <a:r>
              <a:rPr sz="950" b="0" i="0">
                <a:solidFill>
                  <a:srgbClr val="5B7285"/>
                </a:solidFill>
                <a:latin typeface="Calibri" panose="020F0502020204030204"/>
              </a:rPr>
              <a:t>StandardScaler fit on training data, applied to both sets</a:t>
            </a:r>
            <a:endParaRPr sz="950" b="0" i="0">
              <a:solidFill>
                <a:srgbClr val="5B7285"/>
              </a:solidFill>
              <a:latin typeface="Calibri" panose="020F0502020204030204"/>
            </a:endParaRPr>
          </a:p>
        </p:txBody>
      </p:sp>
      <p:sp>
        <p:nvSpPr>
          <p:cNvPr id="30" name="TextBox 29"/>
          <p:cNvSpPr txBox="1"/>
          <p:nvPr/>
        </p:nvSpPr>
        <p:spPr>
          <a:xfrm>
            <a:off x="640080" y="3977640"/>
            <a:ext cx="9144000" cy="274320"/>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panose="020F0502020204030204"/>
              </a:rPr>
              <a:t>MODELS TRAINED</a:t>
            </a:r>
            <a:endParaRPr sz="1150" b="1" i="0">
              <a:solidFill>
                <a:srgbClr val="1C7293"/>
              </a:solidFill>
              <a:latin typeface="Calibri" panose="020F0502020204030204"/>
            </a:endParaRPr>
          </a:p>
        </p:txBody>
      </p:sp>
      <p:sp>
        <p:nvSpPr>
          <p:cNvPr id="31" name="Rounded Rectangle 30"/>
          <p:cNvSpPr/>
          <p:nvPr/>
        </p:nvSpPr>
        <p:spPr>
          <a:xfrm>
            <a:off x="655167" y="4297680"/>
            <a:ext cx="5257800" cy="1417320"/>
          </a:xfrm>
          <a:prstGeom prst="roundRect">
            <a:avLst>
              <a:gd name="adj" fmla="val 8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1199" y="4713732"/>
            <a:ext cx="585216" cy="585216"/>
          </a:xfrm>
          <a:prstGeom prst="ellipse">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brain.png"/>
          <p:cNvPicPr>
            <a:picLocks noChangeAspect="1"/>
          </p:cNvPicPr>
          <p:nvPr/>
        </p:nvPicPr>
        <p:blipFill>
          <a:blip r:embed="rId2"/>
          <a:stretch>
            <a:fillRect/>
          </a:stretch>
        </p:blipFill>
        <p:spPr>
          <a:xfrm>
            <a:off x="1057503" y="4860036"/>
            <a:ext cx="292608" cy="292608"/>
          </a:xfrm>
          <a:prstGeom prst="rect">
            <a:avLst/>
          </a:prstGeom>
        </p:spPr>
      </p:pic>
      <p:sp>
        <p:nvSpPr>
          <p:cNvPr id="34" name="TextBox 33"/>
          <p:cNvSpPr txBox="1"/>
          <p:nvPr/>
        </p:nvSpPr>
        <p:spPr>
          <a:xfrm>
            <a:off x="1706727" y="4517136"/>
            <a:ext cx="3977639" cy="365760"/>
          </a:xfrm>
          <a:prstGeom prst="rect">
            <a:avLst/>
          </a:prstGeom>
          <a:noFill/>
        </p:spPr>
        <p:txBody>
          <a:bodyPr wrap="square" lIns="0" tIns="0" rIns="0" bIns="0" anchor="t">
            <a:spAutoFit/>
          </a:bodyPr>
          <a:lstStyle/>
          <a:p>
            <a:pPr algn="l">
              <a:lnSpc>
                <a:spcPct val="100000"/>
              </a:lnSpc>
            </a:pPr>
            <a:r>
              <a:rPr sz="1500" b="1" i="0">
                <a:solidFill>
                  <a:srgbClr val="132434"/>
                </a:solidFill>
                <a:latin typeface="Cambria" panose="02040503050406030204"/>
              </a:rPr>
              <a:t>Logistic Regression</a:t>
            </a:r>
            <a:endParaRPr sz="1500" b="1" i="0">
              <a:solidFill>
                <a:srgbClr val="132434"/>
              </a:solidFill>
              <a:latin typeface="Cambria" panose="02040503050406030204"/>
            </a:endParaRPr>
          </a:p>
        </p:txBody>
      </p:sp>
      <p:sp>
        <p:nvSpPr>
          <p:cNvPr id="35" name="TextBox 34"/>
          <p:cNvSpPr txBox="1"/>
          <p:nvPr/>
        </p:nvSpPr>
        <p:spPr>
          <a:xfrm>
            <a:off x="1706727" y="4919472"/>
            <a:ext cx="3977639" cy="685800"/>
          </a:xfrm>
          <a:prstGeom prst="rect">
            <a:avLst/>
          </a:prstGeom>
          <a:noFill/>
        </p:spPr>
        <p:txBody>
          <a:bodyPr wrap="square" lIns="0" tIns="0" rIns="0" bIns="0" anchor="t">
            <a:spAutoFit/>
          </a:bodyPr>
          <a:lstStyle/>
          <a:p>
            <a:pPr algn="l">
              <a:lnSpc>
                <a:spcPct val="115000"/>
              </a:lnSpc>
            </a:pPr>
            <a:r>
              <a:rPr sz="1000" b="0" i="0">
                <a:solidFill>
                  <a:srgbClr val="5B7285"/>
                </a:solidFill>
                <a:latin typeface="Calibri" panose="020F0502020204030204"/>
              </a:rPr>
              <a:t>max_iter = 2000  •  trained on scaled features  •  outputs a calibrated delay-risk probability</a:t>
            </a:r>
            <a:endParaRPr sz="1000" b="0" i="0">
              <a:solidFill>
                <a:srgbClr val="5B7285"/>
              </a:solidFill>
              <a:latin typeface="Calibri" panose="020F0502020204030204"/>
            </a:endParaRPr>
          </a:p>
        </p:txBody>
      </p:sp>
      <p:sp>
        <p:nvSpPr>
          <p:cNvPr id="36" name="Rounded Rectangle 35"/>
          <p:cNvSpPr/>
          <p:nvPr/>
        </p:nvSpPr>
        <p:spPr>
          <a:xfrm>
            <a:off x="6278727" y="4297680"/>
            <a:ext cx="5257800" cy="1417320"/>
          </a:xfrm>
          <a:prstGeom prst="roundRect">
            <a:avLst>
              <a:gd name="adj" fmla="val 8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534759" y="4713732"/>
            <a:ext cx="585216" cy="58521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ree.png"/>
          <p:cNvPicPr>
            <a:picLocks noChangeAspect="1"/>
          </p:cNvPicPr>
          <p:nvPr/>
        </p:nvPicPr>
        <p:blipFill>
          <a:blip r:embed="rId3"/>
          <a:stretch>
            <a:fillRect/>
          </a:stretch>
        </p:blipFill>
        <p:spPr>
          <a:xfrm>
            <a:off x="6681063" y="4860036"/>
            <a:ext cx="292608" cy="292608"/>
          </a:xfrm>
          <a:prstGeom prst="rect">
            <a:avLst/>
          </a:prstGeom>
        </p:spPr>
      </p:pic>
      <p:sp>
        <p:nvSpPr>
          <p:cNvPr id="39" name="TextBox 38"/>
          <p:cNvSpPr txBox="1"/>
          <p:nvPr/>
        </p:nvSpPr>
        <p:spPr>
          <a:xfrm>
            <a:off x="7330287" y="4517136"/>
            <a:ext cx="3977639" cy="365760"/>
          </a:xfrm>
          <a:prstGeom prst="rect">
            <a:avLst/>
          </a:prstGeom>
          <a:noFill/>
        </p:spPr>
        <p:txBody>
          <a:bodyPr wrap="square" lIns="0" tIns="0" rIns="0" bIns="0" anchor="t">
            <a:spAutoFit/>
          </a:bodyPr>
          <a:lstStyle/>
          <a:p>
            <a:pPr algn="l">
              <a:lnSpc>
                <a:spcPct val="100000"/>
              </a:lnSpc>
            </a:pPr>
            <a:r>
              <a:rPr sz="1500" b="1" i="0">
                <a:solidFill>
                  <a:srgbClr val="132434"/>
                </a:solidFill>
                <a:latin typeface="Cambria" panose="02040503050406030204"/>
              </a:rPr>
              <a:t>Decision Tree Classifier</a:t>
            </a:r>
            <a:endParaRPr sz="1500" b="1" i="0">
              <a:solidFill>
                <a:srgbClr val="132434"/>
              </a:solidFill>
              <a:latin typeface="Cambria" panose="02040503050406030204"/>
            </a:endParaRPr>
          </a:p>
        </p:txBody>
      </p:sp>
      <p:sp>
        <p:nvSpPr>
          <p:cNvPr id="40" name="TextBox 39"/>
          <p:cNvSpPr txBox="1"/>
          <p:nvPr/>
        </p:nvSpPr>
        <p:spPr>
          <a:xfrm>
            <a:off x="7330287" y="4919472"/>
            <a:ext cx="3977639" cy="685800"/>
          </a:xfrm>
          <a:prstGeom prst="rect">
            <a:avLst/>
          </a:prstGeom>
          <a:noFill/>
        </p:spPr>
        <p:txBody>
          <a:bodyPr wrap="square" lIns="0" tIns="0" rIns="0" bIns="0" anchor="t">
            <a:spAutoFit/>
          </a:bodyPr>
          <a:lstStyle/>
          <a:p>
            <a:pPr algn="l">
              <a:lnSpc>
                <a:spcPct val="115000"/>
              </a:lnSpc>
            </a:pPr>
            <a:r>
              <a:rPr sz="1000" b="0" i="0">
                <a:solidFill>
                  <a:srgbClr val="5B7285"/>
                </a:solidFill>
                <a:latin typeface="Calibri" panose="020F0502020204030204"/>
              </a:rPr>
              <a:t>max_depth = 8  •  trained on the same scaled features  •  used as a comparison / sanity check</a:t>
            </a:r>
            <a:endParaRPr sz="1000" b="0" i="0">
              <a:solidFill>
                <a:srgbClr val="5B7285"/>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Model Evaluation &amp; Comparison</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Phase 6 — comparing both models against the Phase 1 success criteria</a:t>
            </a:r>
            <a:endParaRPr sz="1250" b="0" i="1">
              <a:solidFill>
                <a:srgbClr val="5B7285"/>
              </a:solidFill>
              <a:latin typeface="Calibri" panose="020F0502020204030204"/>
            </a:endParaRPr>
          </a:p>
        </p:txBody>
      </p:sp>
      <p:sp>
        <p:nvSpPr>
          <p:cNvPr id="5" name="Rounded Rectangle 4"/>
          <p:cNvSpPr/>
          <p:nvPr/>
        </p:nvSpPr>
        <p:spPr>
          <a:xfrm>
            <a:off x="640080" y="1417320"/>
            <a:ext cx="5486400" cy="4617720"/>
          </a:xfrm>
          <a:prstGeom prst="roundRect">
            <a:avLst>
              <a:gd name="adj" fmla="val 8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4974336" cy="320040"/>
          </a:xfrm>
          <a:prstGeom prst="rect">
            <a:avLst/>
          </a:prstGeom>
          <a:noFill/>
        </p:spPr>
        <p:txBody>
          <a:bodyPr wrap="square" lIns="0" tIns="0" rIns="0" bIns="0" anchor="t">
            <a:spAutoFit/>
          </a:bodyPr>
          <a:lstStyle/>
          <a:p>
            <a:pPr algn="l">
              <a:lnSpc>
                <a:spcPct val="100000"/>
              </a:lnSpc>
            </a:pPr>
            <a:r>
              <a:rPr sz="1300" b="1" i="0">
                <a:solidFill>
                  <a:srgbClr val="132434"/>
                </a:solidFill>
                <a:latin typeface="Calibri" panose="020F0502020204030204"/>
              </a:rPr>
              <a:t>Logistic Regression vs. Decision Tree</a:t>
            </a:r>
            <a:endParaRPr sz="1300" b="1" i="0">
              <a:solidFill>
                <a:srgbClr val="132434"/>
              </a:solidFill>
              <a:latin typeface="Calibri" panose="020F0502020204030204"/>
            </a:endParaRPr>
          </a:p>
        </p:txBody>
      </p:sp>
      <p:graphicFrame>
        <p:nvGraphicFramePr>
          <p:cNvPr id="7" name="Chart 6"/>
          <p:cNvGraphicFramePr>
            <a:graphicFrameLocks noGrp="1"/>
          </p:cNvGraphicFramePr>
          <p:nvPr/>
        </p:nvGraphicFramePr>
        <p:xfrm>
          <a:off x="868680" y="2011680"/>
          <a:ext cx="5029200" cy="342900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Box 7"/>
          <p:cNvSpPr txBox="1"/>
          <p:nvPr/>
        </p:nvSpPr>
        <p:spPr>
          <a:xfrm>
            <a:off x="896112" y="5532120"/>
            <a:ext cx="4974336" cy="365760"/>
          </a:xfrm>
          <a:prstGeom prst="rect">
            <a:avLst/>
          </a:prstGeom>
          <a:noFill/>
        </p:spPr>
        <p:txBody>
          <a:bodyPr wrap="square" lIns="0" tIns="0" rIns="0" bIns="0" anchor="t">
            <a:spAutoFit/>
          </a:bodyPr>
          <a:lstStyle/>
          <a:p>
            <a:pPr algn="l">
              <a:lnSpc>
                <a:spcPct val="110000"/>
              </a:lnSpc>
            </a:pPr>
            <a:r>
              <a:rPr sz="900" b="0" i="1">
                <a:solidFill>
                  <a:srgbClr val="5B7285"/>
                </a:solidFill>
                <a:latin typeface="Calibri" panose="020F0502020204030204"/>
              </a:rPr>
              <a:t>Decision Tree edges out on accuracy/precision, but Logistic Regression catches more delayed flights (higher recall) — the metric this project prioritizes.</a:t>
            </a:r>
            <a:endParaRPr sz="900" b="0" i="1">
              <a:solidFill>
                <a:srgbClr val="5B7285"/>
              </a:solidFill>
              <a:latin typeface="Calibri" panose="020F0502020204030204"/>
            </a:endParaRPr>
          </a:p>
        </p:txBody>
      </p:sp>
      <p:sp>
        <p:nvSpPr>
          <p:cNvPr id="9" name="Rounded Rectangle 8"/>
          <p:cNvSpPr/>
          <p:nvPr/>
        </p:nvSpPr>
        <p:spPr>
          <a:xfrm>
            <a:off x="6400800" y="1417320"/>
            <a:ext cx="5150815" cy="2788920"/>
          </a:xfrm>
          <a:prstGeom prst="roundRect">
            <a:avLst>
              <a:gd name="adj" fmla="val 8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581912"/>
            <a:ext cx="4693615" cy="274320"/>
          </a:xfrm>
          <a:prstGeom prst="rect">
            <a:avLst/>
          </a:prstGeom>
          <a:noFill/>
        </p:spPr>
        <p:txBody>
          <a:bodyPr wrap="square" lIns="0" tIns="0" rIns="0" bIns="0" anchor="t">
            <a:spAutoFit/>
          </a:bodyPr>
          <a:lstStyle/>
          <a:p>
            <a:pPr algn="l">
              <a:lnSpc>
                <a:spcPct val="100000"/>
              </a:lnSpc>
            </a:pPr>
            <a:r>
              <a:rPr sz="1200" b="1" i="0">
                <a:solidFill>
                  <a:srgbClr val="132434"/>
                </a:solidFill>
                <a:latin typeface="Calibri" panose="020F0502020204030204"/>
              </a:rPr>
              <a:t>Confusion Matrix — Logistic Regression</a:t>
            </a:r>
            <a:endParaRPr sz="1200" b="1" i="0">
              <a:solidFill>
                <a:srgbClr val="132434"/>
              </a:solidFill>
              <a:latin typeface="Calibri" panose="020F0502020204030204"/>
            </a:endParaRPr>
          </a:p>
        </p:txBody>
      </p:sp>
      <p:sp>
        <p:nvSpPr>
          <p:cNvPr id="11" name="Rounded Rectangle 10"/>
          <p:cNvSpPr/>
          <p:nvPr/>
        </p:nvSpPr>
        <p:spPr>
          <a:xfrm>
            <a:off x="7086600" y="2011680"/>
            <a:ext cx="1362456" cy="722376"/>
          </a:xfrm>
          <a:prstGeom prst="roundRect">
            <a:avLst>
              <a:gd name="adj" fmla="val 6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139696"/>
            <a:ext cx="1362456" cy="365760"/>
          </a:xfrm>
          <a:prstGeom prst="rect">
            <a:avLst/>
          </a:prstGeom>
          <a:noFill/>
        </p:spPr>
        <p:txBody>
          <a:bodyPr wrap="square" lIns="0" tIns="0" rIns="0" bIns="0" anchor="t">
            <a:spAutoFit/>
          </a:bodyPr>
          <a:lstStyle/>
          <a:p>
            <a:pPr algn="ctr">
              <a:lnSpc>
                <a:spcPct val="100000"/>
              </a:lnSpc>
            </a:pPr>
            <a:r>
              <a:rPr sz="1500" b="1" i="0">
                <a:solidFill>
                  <a:srgbClr val="FFFFFF"/>
                </a:solidFill>
                <a:latin typeface="Calibri" panose="020F0502020204030204"/>
              </a:rPr>
              <a:t>80,296</a:t>
            </a:r>
            <a:endParaRPr sz="1500" b="1" i="0">
              <a:solidFill>
                <a:srgbClr val="FFFFFF"/>
              </a:solidFill>
              <a:latin typeface="Calibri" panose="020F0502020204030204"/>
            </a:endParaRPr>
          </a:p>
        </p:txBody>
      </p:sp>
      <p:sp>
        <p:nvSpPr>
          <p:cNvPr id="13" name="TextBox 12"/>
          <p:cNvSpPr txBox="1"/>
          <p:nvPr/>
        </p:nvSpPr>
        <p:spPr>
          <a:xfrm>
            <a:off x="7086600" y="2468880"/>
            <a:ext cx="1362456" cy="274320"/>
          </a:xfrm>
          <a:prstGeom prst="rect">
            <a:avLst/>
          </a:prstGeom>
          <a:noFill/>
        </p:spPr>
        <p:txBody>
          <a:bodyPr wrap="square" lIns="0" tIns="0" rIns="0" bIns="0" anchor="t">
            <a:spAutoFit/>
          </a:bodyPr>
          <a:lstStyle/>
          <a:p>
            <a:pPr algn="ctr">
              <a:lnSpc>
                <a:spcPct val="100000"/>
              </a:lnSpc>
            </a:pPr>
            <a:r>
              <a:rPr sz="850" b="0" i="0">
                <a:solidFill>
                  <a:srgbClr val="FFFFFF"/>
                </a:solidFill>
                <a:latin typeface="Calibri" panose="020F0502020204030204"/>
              </a:rPr>
              <a:t>TN</a:t>
            </a:r>
            <a:endParaRPr sz="850" b="0" i="0">
              <a:solidFill>
                <a:srgbClr val="FFFFFF"/>
              </a:solidFill>
              <a:latin typeface="Calibri" panose="020F0502020204030204"/>
            </a:endParaRPr>
          </a:p>
        </p:txBody>
      </p:sp>
      <p:sp>
        <p:nvSpPr>
          <p:cNvPr id="14" name="Rounded Rectangle 13"/>
          <p:cNvSpPr/>
          <p:nvPr/>
        </p:nvSpPr>
        <p:spPr>
          <a:xfrm>
            <a:off x="8503920" y="2011680"/>
            <a:ext cx="1362456" cy="722376"/>
          </a:xfrm>
          <a:prstGeom prst="roundRect">
            <a:avLst>
              <a:gd name="adj" fmla="val 6000"/>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2139696"/>
            <a:ext cx="1362456" cy="365760"/>
          </a:xfrm>
          <a:prstGeom prst="rect">
            <a:avLst/>
          </a:prstGeom>
          <a:noFill/>
        </p:spPr>
        <p:txBody>
          <a:bodyPr wrap="square" lIns="0" tIns="0" rIns="0" bIns="0" anchor="t">
            <a:spAutoFit/>
          </a:bodyPr>
          <a:lstStyle/>
          <a:p>
            <a:pPr algn="ctr">
              <a:lnSpc>
                <a:spcPct val="100000"/>
              </a:lnSpc>
            </a:pPr>
            <a:r>
              <a:rPr sz="1500" b="1" i="0">
                <a:solidFill>
                  <a:srgbClr val="132434"/>
                </a:solidFill>
                <a:latin typeface="Calibri" panose="020F0502020204030204"/>
              </a:rPr>
              <a:t>1,883</a:t>
            </a:r>
            <a:endParaRPr sz="1500" b="1" i="0">
              <a:solidFill>
                <a:srgbClr val="132434"/>
              </a:solidFill>
              <a:latin typeface="Calibri" panose="020F0502020204030204"/>
            </a:endParaRPr>
          </a:p>
        </p:txBody>
      </p:sp>
      <p:sp>
        <p:nvSpPr>
          <p:cNvPr id="16" name="TextBox 15"/>
          <p:cNvSpPr txBox="1"/>
          <p:nvPr/>
        </p:nvSpPr>
        <p:spPr>
          <a:xfrm>
            <a:off x="8503920" y="2468880"/>
            <a:ext cx="1362456" cy="274320"/>
          </a:xfrm>
          <a:prstGeom prst="rect">
            <a:avLst/>
          </a:prstGeom>
          <a:noFill/>
        </p:spPr>
        <p:txBody>
          <a:bodyPr wrap="square" lIns="0" tIns="0" rIns="0" bIns="0" anchor="t">
            <a:spAutoFit/>
          </a:bodyPr>
          <a:lstStyle/>
          <a:p>
            <a:pPr algn="ctr">
              <a:lnSpc>
                <a:spcPct val="100000"/>
              </a:lnSpc>
            </a:pPr>
            <a:r>
              <a:rPr sz="850" b="0" i="0">
                <a:solidFill>
                  <a:srgbClr val="132434"/>
                </a:solidFill>
                <a:latin typeface="Calibri" panose="020F0502020204030204"/>
              </a:rPr>
              <a:t>FP</a:t>
            </a:r>
            <a:endParaRPr sz="850" b="0" i="0">
              <a:solidFill>
                <a:srgbClr val="132434"/>
              </a:solidFill>
              <a:latin typeface="Calibri" panose="020F0502020204030204"/>
            </a:endParaRPr>
          </a:p>
        </p:txBody>
      </p:sp>
      <p:sp>
        <p:nvSpPr>
          <p:cNvPr id="17" name="Rounded Rectangle 16"/>
          <p:cNvSpPr/>
          <p:nvPr/>
        </p:nvSpPr>
        <p:spPr>
          <a:xfrm>
            <a:off x="7086600" y="2788920"/>
            <a:ext cx="1362456" cy="722376"/>
          </a:xfrm>
          <a:prstGeom prst="roundRect">
            <a:avLst>
              <a:gd name="adj" fmla="val 6000"/>
            </a:avLst>
          </a:prstGeom>
          <a:solidFill>
            <a:srgbClr val="C9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2916936"/>
            <a:ext cx="1362456" cy="365760"/>
          </a:xfrm>
          <a:prstGeom prst="rect">
            <a:avLst/>
          </a:prstGeom>
          <a:noFill/>
        </p:spPr>
        <p:txBody>
          <a:bodyPr wrap="square" lIns="0" tIns="0" rIns="0" bIns="0" anchor="t">
            <a:spAutoFit/>
          </a:bodyPr>
          <a:lstStyle/>
          <a:p>
            <a:pPr algn="ctr">
              <a:lnSpc>
                <a:spcPct val="100000"/>
              </a:lnSpc>
            </a:pPr>
            <a:r>
              <a:rPr sz="1500" b="1" i="0">
                <a:solidFill>
                  <a:srgbClr val="132434"/>
                </a:solidFill>
                <a:latin typeface="Calibri" panose="020F0502020204030204"/>
              </a:rPr>
              <a:t>6,213</a:t>
            </a:r>
            <a:endParaRPr sz="1500" b="1" i="0">
              <a:solidFill>
                <a:srgbClr val="132434"/>
              </a:solidFill>
              <a:latin typeface="Calibri" panose="020F0502020204030204"/>
            </a:endParaRPr>
          </a:p>
        </p:txBody>
      </p:sp>
      <p:sp>
        <p:nvSpPr>
          <p:cNvPr id="19" name="TextBox 18"/>
          <p:cNvSpPr txBox="1"/>
          <p:nvPr/>
        </p:nvSpPr>
        <p:spPr>
          <a:xfrm>
            <a:off x="7086600" y="3246120"/>
            <a:ext cx="1362456" cy="274320"/>
          </a:xfrm>
          <a:prstGeom prst="rect">
            <a:avLst/>
          </a:prstGeom>
          <a:noFill/>
        </p:spPr>
        <p:txBody>
          <a:bodyPr wrap="square" lIns="0" tIns="0" rIns="0" bIns="0" anchor="t">
            <a:spAutoFit/>
          </a:bodyPr>
          <a:lstStyle/>
          <a:p>
            <a:pPr algn="ctr">
              <a:lnSpc>
                <a:spcPct val="100000"/>
              </a:lnSpc>
            </a:pPr>
            <a:r>
              <a:rPr sz="850" b="0" i="0">
                <a:solidFill>
                  <a:srgbClr val="132434"/>
                </a:solidFill>
                <a:latin typeface="Calibri" panose="020F0502020204030204"/>
              </a:rPr>
              <a:t>FN</a:t>
            </a:r>
            <a:endParaRPr sz="850" b="0" i="0">
              <a:solidFill>
                <a:srgbClr val="132434"/>
              </a:solidFill>
              <a:latin typeface="Calibri" panose="020F0502020204030204"/>
            </a:endParaRPr>
          </a:p>
        </p:txBody>
      </p:sp>
      <p:sp>
        <p:nvSpPr>
          <p:cNvPr id="20" name="Rounded Rectangle 19"/>
          <p:cNvSpPr/>
          <p:nvPr/>
        </p:nvSpPr>
        <p:spPr>
          <a:xfrm>
            <a:off x="8503920" y="2788920"/>
            <a:ext cx="1362456" cy="722376"/>
          </a:xfrm>
          <a:prstGeom prst="roundRect">
            <a:avLst>
              <a:gd name="adj" fmla="val 6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2916936"/>
            <a:ext cx="1362456" cy="365760"/>
          </a:xfrm>
          <a:prstGeom prst="rect">
            <a:avLst/>
          </a:prstGeom>
          <a:noFill/>
        </p:spPr>
        <p:txBody>
          <a:bodyPr wrap="square" lIns="0" tIns="0" rIns="0" bIns="0" anchor="t">
            <a:spAutoFit/>
          </a:bodyPr>
          <a:lstStyle/>
          <a:p>
            <a:pPr algn="ctr">
              <a:lnSpc>
                <a:spcPct val="100000"/>
              </a:lnSpc>
            </a:pPr>
            <a:r>
              <a:rPr sz="1500" b="1" i="0">
                <a:solidFill>
                  <a:srgbClr val="FFFFFF"/>
                </a:solidFill>
                <a:latin typeface="Calibri" panose="020F0502020204030204"/>
              </a:rPr>
              <a:t>15,282</a:t>
            </a:r>
            <a:endParaRPr sz="1500" b="1" i="0">
              <a:solidFill>
                <a:srgbClr val="FFFFFF"/>
              </a:solidFill>
              <a:latin typeface="Calibri" panose="020F0502020204030204"/>
            </a:endParaRPr>
          </a:p>
        </p:txBody>
      </p:sp>
      <p:sp>
        <p:nvSpPr>
          <p:cNvPr id="22" name="TextBox 21"/>
          <p:cNvSpPr txBox="1"/>
          <p:nvPr/>
        </p:nvSpPr>
        <p:spPr>
          <a:xfrm>
            <a:off x="8503920" y="3246120"/>
            <a:ext cx="1362456" cy="274320"/>
          </a:xfrm>
          <a:prstGeom prst="rect">
            <a:avLst/>
          </a:prstGeom>
          <a:noFill/>
        </p:spPr>
        <p:txBody>
          <a:bodyPr wrap="square" lIns="0" tIns="0" rIns="0" bIns="0" anchor="t">
            <a:spAutoFit/>
          </a:bodyPr>
          <a:lstStyle/>
          <a:p>
            <a:pPr algn="ctr">
              <a:lnSpc>
                <a:spcPct val="100000"/>
              </a:lnSpc>
            </a:pPr>
            <a:r>
              <a:rPr sz="850" b="0" i="0">
                <a:solidFill>
                  <a:srgbClr val="FFFFFF"/>
                </a:solidFill>
                <a:latin typeface="Calibri" panose="020F0502020204030204"/>
              </a:rPr>
              <a:t>TP</a:t>
            </a:r>
            <a:endParaRPr sz="850" b="0" i="0">
              <a:solidFill>
                <a:srgbClr val="FFFFFF"/>
              </a:solidFill>
              <a:latin typeface="Calibri" panose="020F0502020204030204"/>
            </a:endParaRPr>
          </a:p>
        </p:txBody>
      </p:sp>
      <p:sp>
        <p:nvSpPr>
          <p:cNvPr id="23" name="TextBox 22"/>
          <p:cNvSpPr txBox="1"/>
          <p:nvPr/>
        </p:nvSpPr>
        <p:spPr>
          <a:xfrm>
            <a:off x="7086600" y="1755648"/>
            <a:ext cx="1362456" cy="228600"/>
          </a:xfrm>
          <a:prstGeom prst="rect">
            <a:avLst/>
          </a:prstGeom>
          <a:noFill/>
        </p:spPr>
        <p:txBody>
          <a:bodyPr wrap="square" lIns="0" tIns="0" rIns="0" bIns="0" anchor="t">
            <a:spAutoFit/>
          </a:bodyPr>
          <a:lstStyle/>
          <a:p>
            <a:pPr algn="ctr">
              <a:lnSpc>
                <a:spcPct val="100000"/>
              </a:lnSpc>
            </a:pPr>
            <a:r>
              <a:rPr sz="900" b="1" i="0">
                <a:solidFill>
                  <a:srgbClr val="5B7285"/>
                </a:solidFill>
                <a:latin typeface="Calibri" panose="020F0502020204030204"/>
              </a:rPr>
              <a:t>No Delay</a:t>
            </a:r>
            <a:endParaRPr sz="900" b="1" i="0">
              <a:solidFill>
                <a:srgbClr val="5B7285"/>
              </a:solidFill>
              <a:latin typeface="Calibri" panose="020F0502020204030204"/>
            </a:endParaRPr>
          </a:p>
        </p:txBody>
      </p:sp>
      <p:sp>
        <p:nvSpPr>
          <p:cNvPr id="24" name="TextBox 23"/>
          <p:cNvSpPr txBox="1"/>
          <p:nvPr/>
        </p:nvSpPr>
        <p:spPr>
          <a:xfrm>
            <a:off x="8503920" y="1755648"/>
            <a:ext cx="1362456" cy="228600"/>
          </a:xfrm>
          <a:prstGeom prst="rect">
            <a:avLst/>
          </a:prstGeom>
          <a:noFill/>
        </p:spPr>
        <p:txBody>
          <a:bodyPr wrap="square" lIns="0" tIns="0" rIns="0" bIns="0" anchor="t">
            <a:spAutoFit/>
          </a:bodyPr>
          <a:lstStyle/>
          <a:p>
            <a:pPr algn="ctr">
              <a:lnSpc>
                <a:spcPct val="100000"/>
              </a:lnSpc>
            </a:pPr>
            <a:r>
              <a:rPr sz="900" b="1" i="0">
                <a:solidFill>
                  <a:srgbClr val="5B7285"/>
                </a:solidFill>
                <a:latin typeface="Calibri" panose="020F0502020204030204"/>
              </a:rPr>
              <a:t>Delayed</a:t>
            </a:r>
            <a:endParaRPr sz="900" b="1" i="0">
              <a:solidFill>
                <a:srgbClr val="5B7285"/>
              </a:solidFill>
              <a:latin typeface="Calibri" panose="020F0502020204030204"/>
            </a:endParaRPr>
          </a:p>
        </p:txBody>
      </p:sp>
      <p:sp>
        <p:nvSpPr>
          <p:cNvPr id="25" name="TextBox 24"/>
          <p:cNvSpPr txBox="1"/>
          <p:nvPr/>
        </p:nvSpPr>
        <p:spPr>
          <a:xfrm>
            <a:off x="6446520" y="2263140"/>
            <a:ext cx="594360" cy="274320"/>
          </a:xfrm>
          <a:prstGeom prst="rect">
            <a:avLst/>
          </a:prstGeom>
          <a:noFill/>
        </p:spPr>
        <p:txBody>
          <a:bodyPr wrap="square" lIns="0" tIns="0" rIns="0" bIns="0" anchor="t">
            <a:spAutoFit/>
          </a:bodyPr>
          <a:lstStyle/>
          <a:p>
            <a:pPr algn="r">
              <a:lnSpc>
                <a:spcPct val="100000"/>
              </a:lnSpc>
            </a:pPr>
            <a:r>
              <a:rPr sz="800" b="0" i="0">
                <a:solidFill>
                  <a:srgbClr val="5B7285"/>
                </a:solidFill>
                <a:latin typeface="Calibri" panose="020F0502020204030204"/>
              </a:rPr>
              <a:t>No Delay</a:t>
            </a:r>
            <a:endParaRPr sz="800" b="0" i="0">
              <a:solidFill>
                <a:srgbClr val="5B7285"/>
              </a:solidFill>
              <a:latin typeface="Calibri" panose="020F0502020204030204"/>
            </a:endParaRPr>
          </a:p>
        </p:txBody>
      </p:sp>
      <p:sp>
        <p:nvSpPr>
          <p:cNvPr id="26" name="TextBox 25"/>
          <p:cNvSpPr txBox="1"/>
          <p:nvPr/>
        </p:nvSpPr>
        <p:spPr>
          <a:xfrm>
            <a:off x="6446520" y="3040380"/>
            <a:ext cx="594360" cy="274320"/>
          </a:xfrm>
          <a:prstGeom prst="rect">
            <a:avLst/>
          </a:prstGeom>
          <a:noFill/>
        </p:spPr>
        <p:txBody>
          <a:bodyPr wrap="square" lIns="0" tIns="0" rIns="0" bIns="0" anchor="t">
            <a:spAutoFit/>
          </a:bodyPr>
          <a:lstStyle/>
          <a:p>
            <a:pPr algn="r">
              <a:lnSpc>
                <a:spcPct val="100000"/>
              </a:lnSpc>
            </a:pPr>
            <a:r>
              <a:rPr sz="800" b="0" i="0">
                <a:solidFill>
                  <a:srgbClr val="5B7285"/>
                </a:solidFill>
                <a:latin typeface="Calibri" panose="020F0502020204030204"/>
              </a:rPr>
              <a:t>Delayed</a:t>
            </a:r>
            <a:endParaRPr sz="800" b="0" i="0">
              <a:solidFill>
                <a:srgbClr val="5B7285"/>
              </a:solidFill>
              <a:latin typeface="Calibri" panose="020F0502020204030204"/>
            </a:endParaRPr>
          </a:p>
        </p:txBody>
      </p:sp>
      <p:sp>
        <p:nvSpPr>
          <p:cNvPr id="27" name="TextBox 26"/>
          <p:cNvSpPr txBox="1"/>
          <p:nvPr/>
        </p:nvSpPr>
        <p:spPr>
          <a:xfrm>
            <a:off x="6629400" y="3675888"/>
            <a:ext cx="4693615" cy="228600"/>
          </a:xfrm>
          <a:prstGeom prst="rect">
            <a:avLst/>
          </a:prstGeom>
          <a:noFill/>
        </p:spPr>
        <p:txBody>
          <a:bodyPr wrap="square" lIns="0" tIns="0" rIns="0" bIns="0" anchor="t">
            <a:spAutoFit/>
          </a:bodyPr>
          <a:lstStyle/>
          <a:p>
            <a:pPr algn="l">
              <a:lnSpc>
                <a:spcPct val="100000"/>
              </a:lnSpc>
            </a:pPr>
            <a:r>
              <a:rPr sz="800" b="0" i="1">
                <a:solidFill>
                  <a:srgbClr val="5B7285"/>
                </a:solidFill>
                <a:latin typeface="Calibri" panose="020F0502020204030204"/>
              </a:rPr>
              <a:t>Predicted →   (rows = Actual)</a:t>
            </a:r>
            <a:endParaRPr sz="800" b="0" i="1">
              <a:solidFill>
                <a:srgbClr val="5B7285"/>
              </a:solidFill>
              <a:latin typeface="Calibri" panose="020F0502020204030204"/>
            </a:endParaRPr>
          </a:p>
        </p:txBody>
      </p:sp>
      <p:sp>
        <p:nvSpPr>
          <p:cNvPr id="28" name="Rounded Rectangle 27"/>
          <p:cNvSpPr/>
          <p:nvPr/>
        </p:nvSpPr>
        <p:spPr>
          <a:xfrm>
            <a:off x="6400800" y="4389120"/>
            <a:ext cx="5150815" cy="16459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3"/>
          <a:stretch>
            <a:fillRect/>
          </a:stretch>
        </p:blipFill>
        <p:spPr>
          <a:xfrm>
            <a:off x="6601968" y="4553712"/>
            <a:ext cx="274320" cy="274320"/>
          </a:xfrm>
          <a:prstGeom prst="rect">
            <a:avLst/>
          </a:prstGeom>
        </p:spPr>
      </p:pic>
      <p:sp>
        <p:nvSpPr>
          <p:cNvPr id="30" name="TextBox 29"/>
          <p:cNvSpPr txBox="1"/>
          <p:nvPr/>
        </p:nvSpPr>
        <p:spPr>
          <a:xfrm>
            <a:off x="6967728" y="4507992"/>
            <a:ext cx="4419295" cy="502920"/>
          </a:xfrm>
          <a:prstGeom prst="rect">
            <a:avLst/>
          </a:prstGeom>
          <a:noFill/>
        </p:spPr>
        <p:txBody>
          <a:bodyPr wrap="square" lIns="0" tIns="0" rIns="0" bIns="0" anchor="t">
            <a:spAutoFit/>
          </a:bodyPr>
          <a:lstStyle/>
          <a:p>
            <a:pPr algn="l">
              <a:lnSpc>
                <a:spcPct val="115000"/>
              </a:lnSpc>
            </a:pPr>
            <a:r>
              <a:rPr sz="1000" b="0" i="0">
                <a:solidFill>
                  <a:srgbClr val="FFFFFF"/>
                </a:solidFill>
                <a:latin typeface="Calibri" panose="020F0502020204030204"/>
              </a:rPr>
              <a:t>F1-Score target (≥ 0.70) exceeded: 0.79 achieved on the held-out test set.</a:t>
            </a:r>
            <a:endParaRPr sz="1000" b="0" i="0">
              <a:solidFill>
                <a:srgbClr val="FFFFFF"/>
              </a:solidFill>
              <a:latin typeface="Calibri" panose="020F0502020204030204"/>
            </a:endParaRPr>
          </a:p>
        </p:txBody>
      </p:sp>
      <p:pic>
        <p:nvPicPr>
          <p:cNvPr id="31" name="Picture 30" descr="medal.png"/>
          <p:cNvPicPr>
            <a:picLocks noChangeAspect="1"/>
          </p:cNvPicPr>
          <p:nvPr/>
        </p:nvPicPr>
        <p:blipFill>
          <a:blip r:embed="rId4"/>
          <a:stretch>
            <a:fillRect/>
          </a:stretch>
        </p:blipFill>
        <p:spPr>
          <a:xfrm>
            <a:off x="6601968" y="5166359"/>
            <a:ext cx="274320" cy="274320"/>
          </a:xfrm>
          <a:prstGeom prst="rect">
            <a:avLst/>
          </a:prstGeom>
        </p:spPr>
      </p:pic>
      <p:sp>
        <p:nvSpPr>
          <p:cNvPr id="32" name="TextBox 31"/>
          <p:cNvSpPr txBox="1"/>
          <p:nvPr/>
        </p:nvSpPr>
        <p:spPr>
          <a:xfrm>
            <a:off x="6967728" y="5120640"/>
            <a:ext cx="4419295" cy="502920"/>
          </a:xfrm>
          <a:prstGeom prst="rect">
            <a:avLst/>
          </a:prstGeom>
          <a:noFill/>
        </p:spPr>
        <p:txBody>
          <a:bodyPr wrap="square" lIns="0" tIns="0" rIns="0" bIns="0" anchor="t">
            <a:spAutoFit/>
          </a:bodyPr>
          <a:lstStyle/>
          <a:p>
            <a:pPr algn="l">
              <a:lnSpc>
                <a:spcPct val="115000"/>
              </a:lnSpc>
            </a:pPr>
            <a:r>
              <a:rPr sz="1000" b="0" i="0">
                <a:solidFill>
                  <a:srgbClr val="9FB7CB"/>
                </a:solidFill>
                <a:latin typeface="Calibri" panose="020F0502020204030204"/>
              </a:rPr>
              <a:t>Logistic Regression selected as the final model for deployment.</a:t>
            </a:r>
            <a:endParaRPr sz="1000" b="0" i="0">
              <a:solidFill>
                <a:srgbClr val="9FB7CB"/>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Deployment</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Phase 7 — serving the trained model through an interactive web application</a:t>
            </a:r>
            <a:endParaRPr sz="1250" b="0" i="1">
              <a:solidFill>
                <a:srgbClr val="5B7285"/>
              </a:solidFill>
              <a:latin typeface="Calibri" panose="020F0502020204030204"/>
            </a:endParaRPr>
          </a:p>
        </p:txBody>
      </p:sp>
      <p:sp>
        <p:nvSpPr>
          <p:cNvPr id="5" name="Rounded Rectangle 4"/>
          <p:cNvSpPr/>
          <p:nvPr/>
        </p:nvSpPr>
        <p:spPr>
          <a:xfrm>
            <a:off x="640080" y="1463040"/>
            <a:ext cx="6309360" cy="4572000"/>
          </a:xfrm>
          <a:prstGeom prst="roundRect">
            <a:avLst>
              <a:gd name="adj" fmla="val 8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et.png"/>
          <p:cNvPicPr>
            <a:picLocks noChangeAspect="1"/>
          </p:cNvPicPr>
          <p:nvPr/>
        </p:nvPicPr>
        <p:blipFill>
          <a:blip r:embed="rId2"/>
          <a:stretch>
            <a:fillRect/>
          </a:stretch>
        </p:blipFill>
        <p:spPr>
          <a:xfrm>
            <a:off x="914400" y="1719072"/>
            <a:ext cx="457200" cy="457200"/>
          </a:xfrm>
          <a:prstGeom prst="rect">
            <a:avLst/>
          </a:prstGeom>
        </p:spPr>
      </p:pic>
      <p:sp>
        <p:nvSpPr>
          <p:cNvPr id="7" name="TextBox 6"/>
          <p:cNvSpPr txBox="1"/>
          <p:nvPr/>
        </p:nvSpPr>
        <p:spPr>
          <a:xfrm>
            <a:off x="1554480" y="1719072"/>
            <a:ext cx="5120640" cy="502920"/>
          </a:xfrm>
          <a:prstGeom prst="rect">
            <a:avLst/>
          </a:prstGeom>
          <a:noFill/>
        </p:spPr>
        <p:txBody>
          <a:bodyPr wrap="square" lIns="0" tIns="0" rIns="0" bIns="0" anchor="ctr">
            <a:spAutoFit/>
          </a:bodyPr>
          <a:lstStyle/>
          <a:p>
            <a:pPr algn="l">
              <a:lnSpc>
                <a:spcPct val="100000"/>
              </a:lnSpc>
            </a:pPr>
            <a:r>
              <a:rPr sz="1600" b="1" i="0">
                <a:solidFill>
                  <a:srgbClr val="132434"/>
                </a:solidFill>
                <a:latin typeface="Cambria" panose="02040503050406030204"/>
              </a:rPr>
              <a:t>Streamlit Web Application</a:t>
            </a:r>
            <a:endParaRPr sz="1600" b="1" i="0">
              <a:solidFill>
                <a:srgbClr val="132434"/>
              </a:solidFill>
              <a:latin typeface="Cambria" panose="02040503050406030204"/>
            </a:endParaRPr>
          </a:p>
        </p:txBody>
      </p:sp>
      <p:sp>
        <p:nvSpPr>
          <p:cNvPr id="8" name="TextBox 7"/>
          <p:cNvSpPr txBox="1"/>
          <p:nvPr/>
        </p:nvSpPr>
        <p:spPr>
          <a:xfrm>
            <a:off x="914400" y="2377440"/>
            <a:ext cx="5760720" cy="1005840"/>
          </a:xfrm>
          <a:prstGeom prst="rect">
            <a:avLst/>
          </a:prstGeom>
          <a:noFill/>
        </p:spPr>
        <p:txBody>
          <a:bodyPr wrap="square" lIns="0" tIns="0" rIns="0" bIns="0" anchor="t">
            <a:spAutoFit/>
          </a:bodyPr>
          <a:lstStyle/>
          <a:p>
            <a:pPr algn="l">
              <a:lnSpc>
                <a:spcPct val="125000"/>
              </a:lnSpc>
            </a:pPr>
            <a:r>
              <a:rPr sz="1150" b="0" i="0">
                <a:solidFill>
                  <a:srgbClr val="5B7285"/>
                </a:solidFill>
                <a:latin typeface="Calibri" panose="020F0502020204030204"/>
              </a:rPr>
              <a:t>The trained Logistic Regression model, scaler and feature-column list are exported with joblib and loaded into a Streamlit app. Users enter flight details — carrier, route, scheduled time and departure delay — and get an instant arrival delay-risk prediction.</a:t>
            </a:r>
            <a:endParaRPr sz="1150" b="0" i="0">
              <a:solidFill>
                <a:srgbClr val="5B7285"/>
              </a:solidFill>
              <a:latin typeface="Calibri" panose="020F0502020204030204"/>
            </a:endParaRPr>
          </a:p>
        </p:txBody>
      </p:sp>
      <p:sp>
        <p:nvSpPr>
          <p:cNvPr id="9" name="TextBox 8"/>
          <p:cNvSpPr txBox="1"/>
          <p:nvPr/>
        </p:nvSpPr>
        <p:spPr>
          <a:xfrm>
            <a:off x="914400" y="3429000"/>
            <a:ext cx="5760720" cy="274320"/>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panose="020F0502020204030204"/>
              </a:rPr>
              <a:t>EXPORTED ARTIFACTS</a:t>
            </a:r>
            <a:endParaRPr sz="1050" b="1" i="0">
              <a:solidFill>
                <a:srgbClr val="1C7293"/>
              </a:solidFill>
              <a:latin typeface="Calibri" panose="020F0502020204030204"/>
            </a:endParaRPr>
          </a:p>
        </p:txBody>
      </p:sp>
      <p:sp>
        <p:nvSpPr>
          <p:cNvPr id="10" name="TextBox 9"/>
          <p:cNvSpPr txBox="1"/>
          <p:nvPr/>
        </p:nvSpPr>
        <p:spPr>
          <a:xfrm>
            <a:off x="914400" y="3749039"/>
            <a:ext cx="5760720" cy="822960"/>
          </a:xfrm>
          <a:prstGeom prst="rect">
            <a:avLst/>
          </a:prstGeom>
          <a:noFill/>
        </p:spPr>
        <p:txBody>
          <a:bodyPr wrap="square" lIns="0" tIns="0" rIns="0" bIns="0">
            <a:spAutoFit/>
          </a:bodyPr>
          <a:lstStyle/>
          <a:p>
            <a:pPr marL="182880" indent="-182880">
              <a:lnSpc>
                <a:spcPct val="112000"/>
              </a:lnSpc>
              <a:spcAft>
                <a:spcPts val="600"/>
              </a:spcAft>
              <a:buClr>
                <a:srgbClr val="1C7293"/>
              </a:buClr>
              <a:buFont typeface="Arial" panose="020B0604020202020204"/>
              <a:buChar char="▪"/>
            </a:pPr>
            <a:r>
              <a:rPr sz="1050">
                <a:solidFill>
                  <a:srgbClr val="5B7285"/>
                </a:solidFill>
                <a:latin typeface="Calibri" panose="020F0502020204030204"/>
              </a:rPr>
              <a:t>logistic_model.pkl — trained classifier</a:t>
            </a:r>
            <a:endParaRPr sz="1050">
              <a:solidFill>
                <a:srgbClr val="5B7285"/>
              </a:solidFill>
              <a:latin typeface="Calibri" panose="020F0502020204030204"/>
            </a:endParaRPr>
          </a:p>
          <a:p>
            <a:pPr marL="182880" indent="-182880">
              <a:lnSpc>
                <a:spcPct val="112000"/>
              </a:lnSpc>
              <a:spcAft>
                <a:spcPts val="600"/>
              </a:spcAft>
              <a:buClr>
                <a:srgbClr val="1C7293"/>
              </a:buClr>
              <a:buFont typeface="Arial" panose="020B0604020202020204"/>
              <a:buChar char="▪"/>
            </a:pPr>
            <a:r>
              <a:rPr sz="1050">
                <a:solidFill>
                  <a:srgbClr val="5B7285"/>
                </a:solidFill>
                <a:latin typeface="Calibri" panose="020F0502020204030204"/>
              </a:rPr>
              <a:t>scaler.pkl — fitted StandardScaler</a:t>
            </a:r>
            <a:endParaRPr sz="1050">
              <a:solidFill>
                <a:srgbClr val="5B7285"/>
              </a:solidFill>
              <a:latin typeface="Calibri" panose="020F0502020204030204"/>
            </a:endParaRPr>
          </a:p>
          <a:p>
            <a:pPr marL="182880" indent="-182880">
              <a:lnSpc>
                <a:spcPct val="112000"/>
              </a:lnSpc>
              <a:spcAft>
                <a:spcPts val="600"/>
              </a:spcAft>
              <a:buClr>
                <a:srgbClr val="1C7293"/>
              </a:buClr>
              <a:buFont typeface="Arial" panose="020B0604020202020204"/>
              <a:buChar char="▪"/>
            </a:pPr>
            <a:r>
              <a:rPr sz="1050">
                <a:solidFill>
                  <a:srgbClr val="5B7285"/>
                </a:solidFill>
                <a:latin typeface="Calibri" panose="020F0502020204030204"/>
              </a:rPr>
              <a:t>model_columns.pkl — expected feature order</a:t>
            </a:r>
            <a:endParaRPr sz="1050">
              <a:solidFill>
                <a:srgbClr val="5B7285"/>
              </a:solidFill>
              <a:latin typeface="Calibri" panose="020F0502020204030204"/>
            </a:endParaRPr>
          </a:p>
        </p:txBody>
      </p:sp>
      <p:sp>
        <p:nvSpPr>
          <p:cNvPr id="11" name="TextBox 10"/>
          <p:cNvSpPr txBox="1"/>
          <p:nvPr/>
        </p:nvSpPr>
        <p:spPr>
          <a:xfrm>
            <a:off x="914400" y="4663440"/>
            <a:ext cx="5760720" cy="274320"/>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panose="020F0502020204030204"/>
              </a:rPr>
              <a:t>TECH STACK</a:t>
            </a:r>
            <a:endParaRPr sz="1050" b="1" i="0">
              <a:solidFill>
                <a:srgbClr val="1C7293"/>
              </a:solidFill>
              <a:latin typeface="Calibri" panose="020F0502020204030204"/>
            </a:endParaRPr>
          </a:p>
        </p:txBody>
      </p:sp>
      <p:sp>
        <p:nvSpPr>
          <p:cNvPr id="12" name="Rounded Rectangle 11"/>
          <p:cNvSpPr/>
          <p:nvPr/>
        </p:nvSpPr>
        <p:spPr>
          <a:xfrm>
            <a:off x="914400" y="4983480"/>
            <a:ext cx="1737360" cy="685800"/>
          </a:xfrm>
          <a:prstGeom prst="roundRect">
            <a:avLst>
              <a:gd name="adj" fmla="val 15000"/>
            </a:avLst>
          </a:prstGeom>
          <a:solidFill>
            <a:srgbClr val="F7FAFB"/>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klearn.png"/>
          <p:cNvPicPr>
            <a:picLocks noChangeAspect="1"/>
          </p:cNvPicPr>
          <p:nvPr/>
        </p:nvPicPr>
        <p:blipFill>
          <a:blip r:embed="rId3"/>
          <a:stretch>
            <a:fillRect/>
          </a:stretch>
        </p:blipFill>
        <p:spPr>
          <a:xfrm>
            <a:off x="1060704" y="5111496"/>
            <a:ext cx="420624" cy="420624"/>
          </a:xfrm>
          <a:prstGeom prst="rect">
            <a:avLst/>
          </a:prstGeom>
        </p:spPr>
      </p:pic>
      <p:sp>
        <p:nvSpPr>
          <p:cNvPr id="14" name="TextBox 13"/>
          <p:cNvSpPr txBox="1"/>
          <p:nvPr/>
        </p:nvSpPr>
        <p:spPr>
          <a:xfrm>
            <a:off x="1536192" y="4983480"/>
            <a:ext cx="1051560" cy="685800"/>
          </a:xfrm>
          <a:prstGeom prst="rect">
            <a:avLst/>
          </a:prstGeom>
          <a:noFill/>
        </p:spPr>
        <p:txBody>
          <a:bodyPr wrap="square" lIns="0" tIns="0" rIns="0" bIns="0" anchor="ctr">
            <a:spAutoFit/>
          </a:bodyPr>
          <a:lstStyle/>
          <a:p>
            <a:pPr algn="l">
              <a:lnSpc>
                <a:spcPct val="100000"/>
              </a:lnSpc>
            </a:pPr>
            <a:r>
              <a:rPr sz="1000" b="1" i="0">
                <a:solidFill>
                  <a:srgbClr val="132434"/>
                </a:solidFill>
                <a:latin typeface="Calibri" panose="020F0502020204030204"/>
              </a:rPr>
              <a:t>scikit-learn</a:t>
            </a:r>
            <a:endParaRPr sz="1000" b="1" i="0">
              <a:solidFill>
                <a:srgbClr val="132434"/>
              </a:solidFill>
              <a:latin typeface="Calibri" panose="020F0502020204030204"/>
            </a:endParaRPr>
          </a:p>
        </p:txBody>
      </p:sp>
      <p:sp>
        <p:nvSpPr>
          <p:cNvPr id="15" name="Rounded Rectangle 14"/>
          <p:cNvSpPr/>
          <p:nvPr/>
        </p:nvSpPr>
        <p:spPr>
          <a:xfrm>
            <a:off x="2788920" y="4983480"/>
            <a:ext cx="1737360" cy="685800"/>
          </a:xfrm>
          <a:prstGeom prst="roundRect">
            <a:avLst>
              <a:gd name="adj" fmla="val 15000"/>
            </a:avLst>
          </a:prstGeom>
          <a:solidFill>
            <a:srgbClr val="F7FAFB"/>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treamlit.png"/>
          <p:cNvPicPr>
            <a:picLocks noChangeAspect="1"/>
          </p:cNvPicPr>
          <p:nvPr/>
        </p:nvPicPr>
        <p:blipFill>
          <a:blip r:embed="rId4"/>
          <a:stretch>
            <a:fillRect/>
          </a:stretch>
        </p:blipFill>
        <p:spPr>
          <a:xfrm>
            <a:off x="2935224" y="5111496"/>
            <a:ext cx="420624" cy="420624"/>
          </a:xfrm>
          <a:prstGeom prst="rect">
            <a:avLst/>
          </a:prstGeom>
        </p:spPr>
      </p:pic>
      <p:sp>
        <p:nvSpPr>
          <p:cNvPr id="17" name="TextBox 16"/>
          <p:cNvSpPr txBox="1"/>
          <p:nvPr/>
        </p:nvSpPr>
        <p:spPr>
          <a:xfrm>
            <a:off x="3410712" y="4983480"/>
            <a:ext cx="1051560" cy="685800"/>
          </a:xfrm>
          <a:prstGeom prst="rect">
            <a:avLst/>
          </a:prstGeom>
          <a:noFill/>
        </p:spPr>
        <p:txBody>
          <a:bodyPr wrap="square" lIns="0" tIns="0" rIns="0" bIns="0" anchor="ctr">
            <a:spAutoFit/>
          </a:bodyPr>
          <a:lstStyle/>
          <a:p>
            <a:pPr algn="l">
              <a:lnSpc>
                <a:spcPct val="100000"/>
              </a:lnSpc>
            </a:pPr>
            <a:r>
              <a:rPr sz="1000" b="1" i="0">
                <a:solidFill>
                  <a:srgbClr val="132434"/>
                </a:solidFill>
                <a:latin typeface="Calibri" panose="020F0502020204030204"/>
              </a:rPr>
              <a:t>Streamlit</a:t>
            </a:r>
            <a:endParaRPr sz="1000" b="1" i="0">
              <a:solidFill>
                <a:srgbClr val="132434"/>
              </a:solidFill>
              <a:latin typeface="Calibri" panose="020F0502020204030204"/>
            </a:endParaRPr>
          </a:p>
        </p:txBody>
      </p:sp>
      <p:sp>
        <p:nvSpPr>
          <p:cNvPr id="18" name="Rounded Rectangle 17"/>
          <p:cNvSpPr/>
          <p:nvPr/>
        </p:nvSpPr>
        <p:spPr>
          <a:xfrm>
            <a:off x="4663440" y="4983480"/>
            <a:ext cx="1737360" cy="685800"/>
          </a:xfrm>
          <a:prstGeom prst="roundRect">
            <a:avLst>
              <a:gd name="adj" fmla="val 15000"/>
            </a:avLst>
          </a:prstGeom>
          <a:solidFill>
            <a:srgbClr val="F7FAFB"/>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5"/>
          <a:stretch>
            <a:fillRect/>
          </a:stretch>
        </p:blipFill>
        <p:spPr>
          <a:xfrm>
            <a:off x="4809744" y="5111496"/>
            <a:ext cx="420624" cy="420624"/>
          </a:xfrm>
          <a:prstGeom prst="rect">
            <a:avLst/>
          </a:prstGeom>
        </p:spPr>
      </p:pic>
      <p:sp>
        <p:nvSpPr>
          <p:cNvPr id="20" name="TextBox 19"/>
          <p:cNvSpPr txBox="1"/>
          <p:nvPr/>
        </p:nvSpPr>
        <p:spPr>
          <a:xfrm>
            <a:off x="5285231" y="4983480"/>
            <a:ext cx="1051560" cy="685800"/>
          </a:xfrm>
          <a:prstGeom prst="rect">
            <a:avLst/>
          </a:prstGeom>
          <a:noFill/>
        </p:spPr>
        <p:txBody>
          <a:bodyPr wrap="square" lIns="0" tIns="0" rIns="0" bIns="0" anchor="ctr">
            <a:spAutoFit/>
          </a:bodyPr>
          <a:lstStyle/>
          <a:p>
            <a:pPr algn="l">
              <a:lnSpc>
                <a:spcPct val="100000"/>
              </a:lnSpc>
            </a:pPr>
            <a:r>
              <a:rPr sz="1000" b="1" i="0">
                <a:solidFill>
                  <a:srgbClr val="132434"/>
                </a:solidFill>
                <a:latin typeface="Calibri" panose="020F0502020204030204"/>
              </a:rPr>
              <a:t>Google Colab</a:t>
            </a:r>
            <a:endParaRPr sz="1000" b="1" i="0">
              <a:solidFill>
                <a:srgbClr val="132434"/>
              </a:solidFill>
              <a:latin typeface="Calibri" panose="020F0502020204030204"/>
            </a:endParaRPr>
          </a:p>
        </p:txBody>
      </p:sp>
      <p:sp>
        <p:nvSpPr>
          <p:cNvPr id="21" name="Rounded Rectangle 20"/>
          <p:cNvSpPr/>
          <p:nvPr/>
        </p:nvSpPr>
        <p:spPr>
          <a:xfrm>
            <a:off x="7223760" y="1463040"/>
            <a:ext cx="4327855" cy="457200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1737360"/>
            <a:ext cx="3779215" cy="365760"/>
          </a:xfrm>
          <a:prstGeom prst="rect">
            <a:avLst/>
          </a:prstGeom>
          <a:noFill/>
        </p:spPr>
        <p:txBody>
          <a:bodyPr wrap="square" lIns="0" tIns="0" rIns="0" bIns="0" anchor="t">
            <a:spAutoFit/>
          </a:bodyPr>
          <a:lstStyle/>
          <a:p>
            <a:pPr algn="l">
              <a:lnSpc>
                <a:spcPct val="100000"/>
              </a:lnSpc>
            </a:pPr>
            <a:r>
              <a:rPr sz="1150" b="1" i="0">
                <a:solidFill>
                  <a:srgbClr val="F5A623"/>
                </a:solidFill>
                <a:latin typeface="Calibri" panose="020F0502020204030204"/>
              </a:rPr>
              <a:t>TRY IT LIVE</a:t>
            </a:r>
            <a:endParaRPr sz="1150" b="1" i="0">
              <a:solidFill>
                <a:srgbClr val="F5A623"/>
              </a:solidFill>
              <a:latin typeface="Calibri" panose="020F0502020204030204"/>
            </a:endParaRPr>
          </a:p>
        </p:txBody>
      </p:sp>
      <p:pic>
        <p:nvPicPr>
          <p:cNvPr id="23" name="Picture 22" descr="qr_streamlit.png"/>
          <p:cNvPicPr>
            <a:picLocks noChangeAspect="1"/>
          </p:cNvPicPr>
          <p:nvPr/>
        </p:nvPicPr>
        <p:blipFill>
          <a:blip r:embed="rId6"/>
          <a:stretch>
            <a:fillRect/>
          </a:stretch>
        </p:blipFill>
        <p:spPr>
          <a:xfrm>
            <a:off x="8198967" y="2240280"/>
            <a:ext cx="2377440" cy="2377440"/>
          </a:xfrm>
          <a:prstGeom prst="rect">
            <a:avLst/>
          </a:prstGeom>
        </p:spPr>
      </p:pic>
      <p:sp>
        <p:nvSpPr>
          <p:cNvPr id="24" name="TextBox 23"/>
          <p:cNvSpPr txBox="1"/>
          <p:nvPr/>
        </p:nvSpPr>
        <p:spPr>
          <a:xfrm>
            <a:off x="7452360" y="4800600"/>
            <a:ext cx="3870655" cy="274320"/>
          </a:xfrm>
          <a:prstGeom prst="rect">
            <a:avLst/>
          </a:prstGeom>
          <a:noFill/>
        </p:spPr>
        <p:txBody>
          <a:bodyPr wrap="square" lIns="0" tIns="0" rIns="0" bIns="0" anchor="t">
            <a:spAutoFit/>
          </a:bodyPr>
          <a:lstStyle/>
          <a:p>
            <a:pPr algn="ctr">
              <a:lnSpc>
                <a:spcPct val="100000"/>
              </a:lnSpc>
            </a:pPr>
            <a:r>
              <a:rPr sz="1050" b="0" i="0">
                <a:solidFill>
                  <a:srgbClr val="9FB7CB"/>
                </a:solidFill>
                <a:latin typeface="Calibri" panose="020F0502020204030204"/>
              </a:rPr>
              <a:t>Scan to open the app</a:t>
            </a:r>
            <a:endParaRPr sz="1050" b="0" i="0">
              <a:solidFill>
                <a:srgbClr val="9FB7CB"/>
              </a:solidFill>
              <a:latin typeface="Calibri" panose="020F0502020204030204"/>
            </a:endParaRPr>
          </a:p>
        </p:txBody>
      </p:sp>
      <p:sp>
        <p:nvSpPr>
          <p:cNvPr id="25" name="TextBox 24"/>
          <p:cNvSpPr txBox="1"/>
          <p:nvPr/>
        </p:nvSpPr>
        <p:spPr>
          <a:xfrm>
            <a:off x="7452360" y="5120640"/>
            <a:ext cx="3870655" cy="457200"/>
          </a:xfrm>
          <a:prstGeom prst="rect">
            <a:avLst/>
          </a:prstGeom>
          <a:noFill/>
        </p:spPr>
        <p:txBody>
          <a:bodyPr wrap="square" lIns="0" tIns="0" rIns="0" bIns="0" anchor="t">
            <a:spAutoFit/>
          </a:bodyPr>
          <a:lstStyle/>
          <a:p>
            <a:pPr algn="ctr">
              <a:lnSpc>
                <a:spcPct val="110000"/>
              </a:lnSpc>
            </a:pPr>
            <a:r>
              <a:rPr sz="1000" b="1" i="0">
                <a:solidFill>
                  <a:srgbClr val="FFFFFF"/>
                </a:solidFill>
                <a:latin typeface="Calibri" panose="020F0502020204030204"/>
              </a:rPr>
              <a:t>flight-delay-prediction-nti.streamlit.app</a:t>
            </a:r>
            <a:endParaRPr sz="1000" b="1" i="0">
              <a:solidFill>
                <a:srgbClr val="FFFFFF"/>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Power BI Dashboard — Cover Page</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Phase 8 — landing page for the Flight Operations Analytics report</a:t>
            </a:r>
            <a:endParaRPr sz="1250" b="0" i="1">
              <a:solidFill>
                <a:srgbClr val="5B7285"/>
              </a:solidFill>
              <a:latin typeface="Calibri" panose="020F0502020204030204"/>
            </a:endParaRPr>
          </a:p>
        </p:txBody>
      </p:sp>
      <p:sp>
        <p:nvSpPr>
          <p:cNvPr id="5" name="Rounded Rectangle 4"/>
          <p:cNvSpPr/>
          <p:nvPr/>
        </p:nvSpPr>
        <p:spPr>
          <a:xfrm>
            <a:off x="640080" y="1417320"/>
            <a:ext cx="6903720" cy="4617720"/>
          </a:xfrm>
          <a:prstGeom prst="roundRect">
            <a:avLst>
              <a:gd name="adj" fmla="val 4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1581912"/>
            <a:ext cx="118872" cy="118872"/>
          </a:xfrm>
          <a:prstGeom prst="ellipse">
            <a:avLst/>
          </a:prstGeom>
          <a:solidFill>
            <a:srgbClr val="F55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581912"/>
            <a:ext cx="118872" cy="1188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581912"/>
            <a:ext cx="118872" cy="118872"/>
          </a:xfrm>
          <a:prstGeom prst="ellipse">
            <a:avLst/>
          </a:prstGeom>
          <a:solidFill>
            <a:srgbClr val="3FC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517904"/>
            <a:ext cx="5806440" cy="256032"/>
          </a:xfrm>
          <a:prstGeom prst="rect">
            <a:avLst/>
          </a:prstGeom>
          <a:noFill/>
        </p:spPr>
        <p:txBody>
          <a:bodyPr wrap="square" lIns="0" tIns="0" rIns="0" bIns="0" anchor="t">
            <a:spAutoFit/>
          </a:bodyPr>
          <a:lstStyle/>
          <a:p>
            <a:pPr algn="l">
              <a:lnSpc>
                <a:spcPct val="100000"/>
              </a:lnSpc>
            </a:pPr>
            <a:r>
              <a:rPr sz="950" b="0" i="1">
                <a:solidFill>
                  <a:srgbClr val="5B7285"/>
                </a:solidFill>
                <a:latin typeface="Calibri" panose="020F0502020204030204"/>
              </a:rPr>
              <a:t>flight-operations-analytics.pbix — live view</a:t>
            </a:r>
            <a:endParaRPr sz="950" b="0" i="1">
              <a:solidFill>
                <a:srgbClr val="5B7285"/>
              </a:solidFill>
              <a:latin typeface="Calibri" panose="020F0502020204030204"/>
            </a:endParaRPr>
          </a:p>
        </p:txBody>
      </p:sp>
      <p:pic>
        <p:nvPicPr>
          <p:cNvPr id="10" name="Picture 9" descr="cover.png"/>
          <p:cNvPicPr>
            <a:picLocks noChangeAspect="1"/>
          </p:cNvPicPr>
          <p:nvPr/>
        </p:nvPicPr>
        <p:blipFill>
          <a:blip r:embed="rId2"/>
          <a:stretch>
            <a:fillRect/>
          </a:stretch>
        </p:blipFill>
        <p:spPr>
          <a:xfrm>
            <a:off x="777239" y="2001392"/>
            <a:ext cx="6629400" cy="3714750"/>
          </a:xfrm>
          <a:prstGeom prst="rect">
            <a:avLst/>
          </a:prstGeom>
        </p:spPr>
      </p:pic>
      <p:sp>
        <p:nvSpPr>
          <p:cNvPr id="11" name="Rounded Rectangle 10"/>
          <p:cNvSpPr/>
          <p:nvPr/>
        </p:nvSpPr>
        <p:spPr>
          <a:xfrm>
            <a:off x="7818120" y="1417320"/>
            <a:ext cx="3733495" cy="46177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673352"/>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WHAT THIS PAGE SHOWS</a:t>
            </a:r>
            <a:endParaRPr sz="1050" b="1" i="0">
              <a:solidFill>
                <a:srgbClr val="F5A623"/>
              </a:solidFill>
              <a:latin typeface="Calibri" panose="020F0502020204030204"/>
            </a:endParaRPr>
          </a:p>
        </p:txBody>
      </p:sp>
      <p:sp>
        <p:nvSpPr>
          <p:cNvPr id="13" name="TextBox 12"/>
          <p:cNvSpPr txBox="1"/>
          <p:nvPr/>
        </p:nvSpPr>
        <p:spPr>
          <a:xfrm>
            <a:off x="8074152" y="2020824"/>
            <a:ext cx="3221431" cy="3831335"/>
          </a:xfrm>
          <a:prstGeom prst="rect">
            <a:avLst/>
          </a:prstGeom>
          <a:noFill/>
        </p:spPr>
        <p:txBody>
          <a:bodyPr wrap="square" lIns="0" tIns="0" rIns="0" bIns="0">
            <a:spAutoFit/>
          </a:bodyPr>
          <a:lstStyle/>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Branded landing page built around a flight-operations theme, setting the "Safer Skies, Better Decisions, Higher Efficiency" narrative for the report.</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Four quick-navigation cards link straight into Flight Overview, Delay Analysis, Airline Performance and Route &amp; Airport Analysis.</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Establishes a consistent dark, aviation-styled visual identity carried through every page.</a:t>
            </a:r>
            <a:endParaRPr sz="1000">
              <a:solidFill>
                <a:srgbClr val="9FB7CB"/>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Power BI Dashboard — Flight Overview</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Key performance metrics and operational insights at a glance</a:t>
            </a:r>
            <a:endParaRPr sz="1250" b="0" i="1">
              <a:solidFill>
                <a:srgbClr val="5B7285"/>
              </a:solidFill>
              <a:latin typeface="Calibri" panose="020F0502020204030204"/>
            </a:endParaRPr>
          </a:p>
        </p:txBody>
      </p:sp>
      <p:sp>
        <p:nvSpPr>
          <p:cNvPr id="5" name="Rounded Rectangle 4"/>
          <p:cNvSpPr/>
          <p:nvPr/>
        </p:nvSpPr>
        <p:spPr>
          <a:xfrm>
            <a:off x="640080" y="1417320"/>
            <a:ext cx="6903720" cy="4617720"/>
          </a:xfrm>
          <a:prstGeom prst="roundRect">
            <a:avLst>
              <a:gd name="adj" fmla="val 4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1581912"/>
            <a:ext cx="118872" cy="118872"/>
          </a:xfrm>
          <a:prstGeom prst="ellipse">
            <a:avLst/>
          </a:prstGeom>
          <a:solidFill>
            <a:srgbClr val="F55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581912"/>
            <a:ext cx="118872" cy="1188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581912"/>
            <a:ext cx="118872" cy="118872"/>
          </a:xfrm>
          <a:prstGeom prst="ellipse">
            <a:avLst/>
          </a:prstGeom>
          <a:solidFill>
            <a:srgbClr val="3FC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517904"/>
            <a:ext cx="5806440" cy="256032"/>
          </a:xfrm>
          <a:prstGeom prst="rect">
            <a:avLst/>
          </a:prstGeom>
          <a:noFill/>
        </p:spPr>
        <p:txBody>
          <a:bodyPr wrap="square" lIns="0" tIns="0" rIns="0" bIns="0" anchor="t">
            <a:spAutoFit/>
          </a:bodyPr>
          <a:lstStyle/>
          <a:p>
            <a:pPr algn="l">
              <a:lnSpc>
                <a:spcPct val="100000"/>
              </a:lnSpc>
            </a:pPr>
            <a:r>
              <a:rPr sz="950" b="0" i="1">
                <a:solidFill>
                  <a:srgbClr val="5B7285"/>
                </a:solidFill>
                <a:latin typeface="Calibri" panose="020F0502020204030204"/>
              </a:rPr>
              <a:t>flight-operations-analytics.pbix — live view</a:t>
            </a:r>
            <a:endParaRPr sz="950" b="0" i="1">
              <a:solidFill>
                <a:srgbClr val="5B7285"/>
              </a:solidFill>
              <a:latin typeface="Calibri" panose="020F0502020204030204"/>
            </a:endParaRPr>
          </a:p>
        </p:txBody>
      </p:sp>
      <p:pic>
        <p:nvPicPr>
          <p:cNvPr id="10" name="Picture 9" descr="overview.png"/>
          <p:cNvPicPr>
            <a:picLocks noChangeAspect="1"/>
          </p:cNvPicPr>
          <p:nvPr/>
        </p:nvPicPr>
        <p:blipFill>
          <a:blip r:embed="rId2"/>
          <a:stretch>
            <a:fillRect/>
          </a:stretch>
        </p:blipFill>
        <p:spPr>
          <a:xfrm>
            <a:off x="777239" y="1972376"/>
            <a:ext cx="6629400" cy="3772783"/>
          </a:xfrm>
          <a:prstGeom prst="rect">
            <a:avLst/>
          </a:prstGeom>
        </p:spPr>
      </p:pic>
      <p:sp>
        <p:nvSpPr>
          <p:cNvPr id="11" name="Rounded Rectangle 10"/>
          <p:cNvSpPr/>
          <p:nvPr/>
        </p:nvSpPr>
        <p:spPr>
          <a:xfrm>
            <a:off x="7818120" y="1417320"/>
            <a:ext cx="3733495" cy="46177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673352"/>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AT A GLANCE</a:t>
            </a:r>
            <a:endParaRPr sz="1050" b="1" i="0">
              <a:solidFill>
                <a:srgbClr val="F5A623"/>
              </a:solidFill>
              <a:latin typeface="Calibri" panose="020F0502020204030204"/>
            </a:endParaRPr>
          </a:p>
        </p:txBody>
      </p:sp>
      <p:sp>
        <p:nvSpPr>
          <p:cNvPr id="13" name="TextBox 12"/>
          <p:cNvSpPr txBox="1"/>
          <p:nvPr/>
        </p:nvSpPr>
        <p:spPr>
          <a:xfrm>
            <a:off x="807415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518K</a:t>
            </a:r>
            <a:endParaRPr sz="1700" b="1" i="0">
              <a:solidFill>
                <a:srgbClr val="FFFFFF"/>
              </a:solidFill>
              <a:latin typeface="Cambria" panose="02040503050406030204"/>
            </a:endParaRPr>
          </a:p>
        </p:txBody>
      </p:sp>
      <p:sp>
        <p:nvSpPr>
          <p:cNvPr id="14" name="TextBox 13"/>
          <p:cNvSpPr txBox="1"/>
          <p:nvPr/>
        </p:nvSpPr>
        <p:spPr>
          <a:xfrm>
            <a:off x="807415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Total Flights</a:t>
            </a:r>
            <a:endParaRPr sz="850" b="0" i="0">
              <a:solidFill>
                <a:srgbClr val="9FB7CB"/>
              </a:solidFill>
              <a:latin typeface="Calibri" panose="020F0502020204030204"/>
            </a:endParaRPr>
          </a:p>
        </p:txBody>
      </p:sp>
      <p:sp>
        <p:nvSpPr>
          <p:cNvPr id="15" name="TextBox 14"/>
          <p:cNvSpPr txBox="1"/>
          <p:nvPr/>
        </p:nvSpPr>
        <p:spPr>
          <a:xfrm>
            <a:off x="914796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79.27%</a:t>
            </a:r>
            <a:endParaRPr sz="1700" b="1" i="0">
              <a:solidFill>
                <a:srgbClr val="FFFFFF"/>
              </a:solidFill>
              <a:latin typeface="Cambria" panose="02040503050406030204"/>
            </a:endParaRPr>
          </a:p>
        </p:txBody>
      </p:sp>
      <p:sp>
        <p:nvSpPr>
          <p:cNvPr id="16" name="TextBox 15"/>
          <p:cNvSpPr txBox="1"/>
          <p:nvPr/>
        </p:nvSpPr>
        <p:spPr>
          <a:xfrm>
            <a:off x="914796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On-Time Rate</a:t>
            </a:r>
            <a:endParaRPr sz="850" b="0" i="0">
              <a:solidFill>
                <a:srgbClr val="9FB7CB"/>
              </a:solidFill>
              <a:latin typeface="Calibri" panose="020F0502020204030204"/>
            </a:endParaRPr>
          </a:p>
        </p:txBody>
      </p:sp>
      <p:sp>
        <p:nvSpPr>
          <p:cNvPr id="17" name="TextBox 16"/>
          <p:cNvSpPr txBox="1"/>
          <p:nvPr/>
        </p:nvSpPr>
        <p:spPr>
          <a:xfrm>
            <a:off x="1022177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5.75 min</a:t>
            </a:r>
            <a:endParaRPr sz="1700" b="1" i="0">
              <a:solidFill>
                <a:srgbClr val="FFFFFF"/>
              </a:solidFill>
              <a:latin typeface="Cambria" panose="02040503050406030204"/>
            </a:endParaRPr>
          </a:p>
        </p:txBody>
      </p:sp>
      <p:sp>
        <p:nvSpPr>
          <p:cNvPr id="18" name="TextBox 17"/>
          <p:cNvSpPr txBox="1"/>
          <p:nvPr/>
        </p:nvSpPr>
        <p:spPr>
          <a:xfrm>
            <a:off x="1022177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Avg Arrival Delay</a:t>
            </a:r>
            <a:endParaRPr sz="850" b="0" i="0">
              <a:solidFill>
                <a:srgbClr val="9FB7CB"/>
              </a:solidFill>
              <a:latin typeface="Calibri" panose="020F0502020204030204"/>
            </a:endParaRPr>
          </a:p>
        </p:txBody>
      </p:sp>
      <p:sp>
        <p:nvSpPr>
          <p:cNvPr id="19" name="Rounded Rectangle 18"/>
          <p:cNvSpPr/>
          <p:nvPr/>
        </p:nvSpPr>
        <p:spPr>
          <a:xfrm>
            <a:off x="8074152" y="2971800"/>
            <a:ext cx="3221431" cy="10972"/>
          </a:xfrm>
          <a:prstGeom prst="roundRect">
            <a:avLst>
              <a:gd name="adj" fmla="val 0"/>
            </a:avLst>
          </a:prstGeom>
          <a:solidFill>
            <a:srgbClr val="1E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3172968"/>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WHAT THIS PAGE SHOWS</a:t>
            </a:r>
            <a:endParaRPr sz="1050" b="1" i="0">
              <a:solidFill>
                <a:srgbClr val="F5A623"/>
              </a:solidFill>
              <a:latin typeface="Calibri" panose="020F0502020204030204"/>
            </a:endParaRPr>
          </a:p>
        </p:txBody>
      </p:sp>
      <p:sp>
        <p:nvSpPr>
          <p:cNvPr id="21" name="TextBox 20"/>
          <p:cNvSpPr txBox="1"/>
          <p:nvPr/>
        </p:nvSpPr>
        <p:spPr>
          <a:xfrm>
            <a:off x="8074152" y="3520440"/>
            <a:ext cx="3221431" cy="2331720"/>
          </a:xfrm>
          <a:prstGeom prst="rect">
            <a:avLst/>
          </a:prstGeom>
          <a:noFill/>
        </p:spPr>
        <p:txBody>
          <a:bodyPr wrap="square" lIns="0" tIns="0" rIns="0" bIns="0">
            <a:spAutoFit/>
          </a:bodyPr>
          <a:lstStyle/>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Daily flight-volume trend across January shows a clear weekday/weekend rhythm, dipping toward the low-teens (in thousands) on lighter days.</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Southwest, Delta and American operate the largest share of flights among the 13 carriers.</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Arrival status splits into 75.5% on-time, 19.8% delayed 15+ minutes and 4.7% cancelled.</a:t>
            </a:r>
            <a:endParaRPr sz="1000">
              <a:solidFill>
                <a:srgbClr val="9FB7CB"/>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Power BI Dashboard — Delay Analysis</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Departure &amp; arrival delays and their impact</a:t>
            </a:r>
            <a:endParaRPr sz="1250" b="0" i="1">
              <a:solidFill>
                <a:srgbClr val="5B7285"/>
              </a:solidFill>
              <a:latin typeface="Calibri" panose="020F0502020204030204"/>
            </a:endParaRPr>
          </a:p>
        </p:txBody>
      </p:sp>
      <p:sp>
        <p:nvSpPr>
          <p:cNvPr id="5" name="Rounded Rectangle 4"/>
          <p:cNvSpPr/>
          <p:nvPr/>
        </p:nvSpPr>
        <p:spPr>
          <a:xfrm>
            <a:off x="640080" y="1417320"/>
            <a:ext cx="6903720" cy="4617720"/>
          </a:xfrm>
          <a:prstGeom prst="roundRect">
            <a:avLst>
              <a:gd name="adj" fmla="val 4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1581912"/>
            <a:ext cx="118872" cy="118872"/>
          </a:xfrm>
          <a:prstGeom prst="ellipse">
            <a:avLst/>
          </a:prstGeom>
          <a:solidFill>
            <a:srgbClr val="F55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581912"/>
            <a:ext cx="118872" cy="1188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581912"/>
            <a:ext cx="118872" cy="118872"/>
          </a:xfrm>
          <a:prstGeom prst="ellipse">
            <a:avLst/>
          </a:prstGeom>
          <a:solidFill>
            <a:srgbClr val="3FC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517904"/>
            <a:ext cx="5806440" cy="256032"/>
          </a:xfrm>
          <a:prstGeom prst="rect">
            <a:avLst/>
          </a:prstGeom>
          <a:noFill/>
        </p:spPr>
        <p:txBody>
          <a:bodyPr wrap="square" lIns="0" tIns="0" rIns="0" bIns="0" anchor="t">
            <a:spAutoFit/>
          </a:bodyPr>
          <a:lstStyle/>
          <a:p>
            <a:pPr algn="l">
              <a:lnSpc>
                <a:spcPct val="100000"/>
              </a:lnSpc>
            </a:pPr>
            <a:r>
              <a:rPr sz="950" b="0" i="1">
                <a:solidFill>
                  <a:srgbClr val="5B7285"/>
                </a:solidFill>
                <a:latin typeface="Calibri" panose="020F0502020204030204"/>
              </a:rPr>
              <a:t>flight-operations-analytics.pbix — live view</a:t>
            </a:r>
            <a:endParaRPr sz="950" b="0" i="1">
              <a:solidFill>
                <a:srgbClr val="5B7285"/>
              </a:solidFill>
              <a:latin typeface="Calibri" panose="020F0502020204030204"/>
            </a:endParaRPr>
          </a:p>
        </p:txBody>
      </p:sp>
      <p:pic>
        <p:nvPicPr>
          <p:cNvPr id="10" name="Picture 9" descr="delay.png"/>
          <p:cNvPicPr>
            <a:picLocks noChangeAspect="1"/>
          </p:cNvPicPr>
          <p:nvPr/>
        </p:nvPicPr>
        <p:blipFill>
          <a:blip r:embed="rId2"/>
          <a:stretch>
            <a:fillRect/>
          </a:stretch>
        </p:blipFill>
        <p:spPr>
          <a:xfrm>
            <a:off x="777239" y="1976380"/>
            <a:ext cx="6629400" cy="3764774"/>
          </a:xfrm>
          <a:prstGeom prst="rect">
            <a:avLst/>
          </a:prstGeom>
        </p:spPr>
      </p:pic>
      <p:sp>
        <p:nvSpPr>
          <p:cNvPr id="11" name="Rounded Rectangle 10"/>
          <p:cNvSpPr/>
          <p:nvPr/>
        </p:nvSpPr>
        <p:spPr>
          <a:xfrm>
            <a:off x="7818120" y="1417320"/>
            <a:ext cx="3733495" cy="46177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673352"/>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AT A GLANCE</a:t>
            </a:r>
            <a:endParaRPr sz="1050" b="1" i="0">
              <a:solidFill>
                <a:srgbClr val="F5A623"/>
              </a:solidFill>
              <a:latin typeface="Calibri" panose="020F0502020204030204"/>
            </a:endParaRPr>
          </a:p>
        </p:txBody>
      </p:sp>
      <p:sp>
        <p:nvSpPr>
          <p:cNvPr id="13" name="TextBox 12"/>
          <p:cNvSpPr txBox="1"/>
          <p:nvPr/>
        </p:nvSpPr>
        <p:spPr>
          <a:xfrm>
            <a:off x="807415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26.1%</a:t>
            </a:r>
            <a:endParaRPr sz="1700" b="1" i="0">
              <a:solidFill>
                <a:srgbClr val="FFFFFF"/>
              </a:solidFill>
              <a:latin typeface="Cambria" panose="02040503050406030204"/>
            </a:endParaRPr>
          </a:p>
        </p:txBody>
      </p:sp>
      <p:sp>
        <p:nvSpPr>
          <p:cNvPr id="14" name="TextBox 13"/>
          <p:cNvSpPr txBox="1"/>
          <p:nvPr/>
        </p:nvSpPr>
        <p:spPr>
          <a:xfrm>
            <a:off x="807415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Evening Delay Rate</a:t>
            </a:r>
            <a:endParaRPr sz="850" b="0" i="0">
              <a:solidFill>
                <a:srgbClr val="9FB7CB"/>
              </a:solidFill>
              <a:latin typeface="Calibri" panose="020F0502020204030204"/>
            </a:endParaRPr>
          </a:p>
        </p:txBody>
      </p:sp>
      <p:sp>
        <p:nvSpPr>
          <p:cNvPr id="15" name="TextBox 14"/>
          <p:cNvSpPr txBox="1"/>
          <p:nvPr/>
        </p:nvSpPr>
        <p:spPr>
          <a:xfrm>
            <a:off x="914796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~7 min</a:t>
            </a:r>
            <a:endParaRPr sz="1700" b="1" i="0">
              <a:solidFill>
                <a:srgbClr val="FFFFFF"/>
              </a:solidFill>
              <a:latin typeface="Cambria" panose="02040503050406030204"/>
            </a:endParaRPr>
          </a:p>
        </p:txBody>
      </p:sp>
      <p:sp>
        <p:nvSpPr>
          <p:cNvPr id="16" name="TextBox 15"/>
          <p:cNvSpPr txBox="1"/>
          <p:nvPr/>
        </p:nvSpPr>
        <p:spPr>
          <a:xfrm>
            <a:off x="914796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Long-Haul Avg Delay</a:t>
            </a:r>
            <a:endParaRPr sz="850" b="0" i="0">
              <a:solidFill>
                <a:srgbClr val="9FB7CB"/>
              </a:solidFill>
              <a:latin typeface="Calibri" panose="020F0502020204030204"/>
            </a:endParaRPr>
          </a:p>
        </p:txBody>
      </p:sp>
      <p:sp>
        <p:nvSpPr>
          <p:cNvPr id="17" name="TextBox 16"/>
          <p:cNvSpPr txBox="1"/>
          <p:nvPr/>
        </p:nvSpPr>
        <p:spPr>
          <a:xfrm>
            <a:off x="1022177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9.1%</a:t>
            </a:r>
            <a:endParaRPr sz="1700" b="1" i="0">
              <a:solidFill>
                <a:srgbClr val="FFFFFF"/>
              </a:solidFill>
              <a:latin typeface="Cambria" panose="02040503050406030204"/>
            </a:endParaRPr>
          </a:p>
        </p:txBody>
      </p:sp>
      <p:sp>
        <p:nvSpPr>
          <p:cNvPr id="18" name="TextBox 17"/>
          <p:cNvSpPr txBox="1"/>
          <p:nvPr/>
        </p:nvSpPr>
        <p:spPr>
          <a:xfrm>
            <a:off x="1022177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Overnight Delay Rate</a:t>
            </a:r>
            <a:endParaRPr sz="850" b="0" i="0">
              <a:solidFill>
                <a:srgbClr val="9FB7CB"/>
              </a:solidFill>
              <a:latin typeface="Calibri" panose="020F0502020204030204"/>
            </a:endParaRPr>
          </a:p>
        </p:txBody>
      </p:sp>
      <p:sp>
        <p:nvSpPr>
          <p:cNvPr id="19" name="Rounded Rectangle 18"/>
          <p:cNvSpPr/>
          <p:nvPr/>
        </p:nvSpPr>
        <p:spPr>
          <a:xfrm>
            <a:off x="8074152" y="2971800"/>
            <a:ext cx="3221431" cy="10972"/>
          </a:xfrm>
          <a:prstGeom prst="roundRect">
            <a:avLst>
              <a:gd name="adj" fmla="val 0"/>
            </a:avLst>
          </a:prstGeom>
          <a:solidFill>
            <a:srgbClr val="1E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3172968"/>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WHAT THIS PAGE SHOWS</a:t>
            </a:r>
            <a:endParaRPr sz="1050" b="1" i="0">
              <a:solidFill>
                <a:srgbClr val="F5A623"/>
              </a:solidFill>
              <a:latin typeface="Calibri" panose="020F0502020204030204"/>
            </a:endParaRPr>
          </a:p>
        </p:txBody>
      </p:sp>
      <p:sp>
        <p:nvSpPr>
          <p:cNvPr id="21" name="TextBox 20"/>
          <p:cNvSpPr txBox="1"/>
          <p:nvPr/>
        </p:nvSpPr>
        <p:spPr>
          <a:xfrm>
            <a:off x="8074152" y="3520440"/>
            <a:ext cx="3221431" cy="2331720"/>
          </a:xfrm>
          <a:prstGeom prst="rect">
            <a:avLst/>
          </a:prstGeom>
          <a:noFill/>
        </p:spPr>
        <p:txBody>
          <a:bodyPr wrap="square" lIns="0" tIns="0" rIns="0" bIns="0">
            <a:spAutoFit/>
          </a:bodyPr>
          <a:lstStyle/>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Longer-distance flights (1,000+ miles) see the highest average arrival delay, easing somewhat for very-long-haul routes.</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Delay rate climbs through the day, peaking in the evening (26.1%) and falling sharply overnight (9.1%).</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Departure delay tracks closely with arrival delay across carriers — confirming it as the strongest predictor identified in modelling.</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The arrival-delay distribution is right-skewed, with a long tail of severely delayed flights.</a:t>
            </a:r>
            <a:endParaRPr sz="1000">
              <a:solidFill>
                <a:srgbClr val="9FB7CB"/>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Power BI Dashboard — Airline Performance</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Compare airlines and operational efficiency</a:t>
            </a:r>
            <a:endParaRPr sz="1250" b="0" i="1">
              <a:solidFill>
                <a:srgbClr val="5B7285"/>
              </a:solidFill>
              <a:latin typeface="Calibri" panose="020F0502020204030204"/>
            </a:endParaRPr>
          </a:p>
        </p:txBody>
      </p:sp>
      <p:sp>
        <p:nvSpPr>
          <p:cNvPr id="5" name="Rounded Rectangle 4"/>
          <p:cNvSpPr/>
          <p:nvPr/>
        </p:nvSpPr>
        <p:spPr>
          <a:xfrm>
            <a:off x="640080" y="1417320"/>
            <a:ext cx="6903720" cy="4617720"/>
          </a:xfrm>
          <a:prstGeom prst="roundRect">
            <a:avLst>
              <a:gd name="adj" fmla="val 4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1581912"/>
            <a:ext cx="118872" cy="118872"/>
          </a:xfrm>
          <a:prstGeom prst="ellipse">
            <a:avLst/>
          </a:prstGeom>
          <a:solidFill>
            <a:srgbClr val="F55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581912"/>
            <a:ext cx="118872" cy="1188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581912"/>
            <a:ext cx="118872" cy="118872"/>
          </a:xfrm>
          <a:prstGeom prst="ellipse">
            <a:avLst/>
          </a:prstGeom>
          <a:solidFill>
            <a:srgbClr val="3FC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517904"/>
            <a:ext cx="5806440" cy="256032"/>
          </a:xfrm>
          <a:prstGeom prst="rect">
            <a:avLst/>
          </a:prstGeom>
          <a:noFill/>
        </p:spPr>
        <p:txBody>
          <a:bodyPr wrap="square" lIns="0" tIns="0" rIns="0" bIns="0" anchor="t">
            <a:spAutoFit/>
          </a:bodyPr>
          <a:lstStyle/>
          <a:p>
            <a:pPr algn="l">
              <a:lnSpc>
                <a:spcPct val="100000"/>
              </a:lnSpc>
            </a:pPr>
            <a:r>
              <a:rPr sz="950" b="0" i="1">
                <a:solidFill>
                  <a:srgbClr val="5B7285"/>
                </a:solidFill>
                <a:latin typeface="Calibri" panose="020F0502020204030204"/>
              </a:rPr>
              <a:t>flight-operations-analytics.pbix — live view</a:t>
            </a:r>
            <a:endParaRPr sz="950" b="0" i="1">
              <a:solidFill>
                <a:srgbClr val="5B7285"/>
              </a:solidFill>
              <a:latin typeface="Calibri" panose="020F0502020204030204"/>
            </a:endParaRPr>
          </a:p>
        </p:txBody>
      </p:sp>
      <p:pic>
        <p:nvPicPr>
          <p:cNvPr id="10" name="Picture 9" descr="airline.png"/>
          <p:cNvPicPr>
            <a:picLocks noChangeAspect="1"/>
          </p:cNvPicPr>
          <p:nvPr/>
        </p:nvPicPr>
        <p:blipFill>
          <a:blip r:embed="rId2"/>
          <a:stretch>
            <a:fillRect/>
          </a:stretch>
        </p:blipFill>
        <p:spPr>
          <a:xfrm>
            <a:off x="777239" y="1977527"/>
            <a:ext cx="6629400" cy="3762480"/>
          </a:xfrm>
          <a:prstGeom prst="rect">
            <a:avLst/>
          </a:prstGeom>
        </p:spPr>
      </p:pic>
      <p:sp>
        <p:nvSpPr>
          <p:cNvPr id="11" name="Rounded Rectangle 10"/>
          <p:cNvSpPr/>
          <p:nvPr/>
        </p:nvSpPr>
        <p:spPr>
          <a:xfrm>
            <a:off x="7818120" y="1417320"/>
            <a:ext cx="3733495" cy="46177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673352"/>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AT A GLANCE</a:t>
            </a:r>
            <a:endParaRPr sz="1050" b="1" i="0">
              <a:solidFill>
                <a:srgbClr val="F5A623"/>
              </a:solidFill>
              <a:latin typeface="Calibri" panose="020F0502020204030204"/>
            </a:endParaRPr>
          </a:p>
        </p:txBody>
      </p:sp>
      <p:sp>
        <p:nvSpPr>
          <p:cNvPr id="13" name="TextBox 12"/>
          <p:cNvSpPr txBox="1"/>
          <p:nvPr/>
        </p:nvSpPr>
        <p:spPr>
          <a:xfrm>
            <a:off x="807415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85%</a:t>
            </a:r>
            <a:endParaRPr sz="1700" b="1" i="0">
              <a:solidFill>
                <a:srgbClr val="FFFFFF"/>
              </a:solidFill>
              <a:latin typeface="Cambria" panose="02040503050406030204"/>
            </a:endParaRPr>
          </a:p>
        </p:txBody>
      </p:sp>
      <p:sp>
        <p:nvSpPr>
          <p:cNvPr id="14" name="TextBox 13"/>
          <p:cNvSpPr txBox="1"/>
          <p:nvPr/>
        </p:nvSpPr>
        <p:spPr>
          <a:xfrm>
            <a:off x="807415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Best On-Time Rate</a:t>
            </a:r>
            <a:endParaRPr sz="850" b="0" i="0">
              <a:solidFill>
                <a:srgbClr val="9FB7CB"/>
              </a:solidFill>
              <a:latin typeface="Calibri" panose="020F0502020204030204"/>
            </a:endParaRPr>
          </a:p>
        </p:txBody>
      </p:sp>
      <p:sp>
        <p:nvSpPr>
          <p:cNvPr id="15" name="TextBox 14"/>
          <p:cNvSpPr txBox="1"/>
          <p:nvPr/>
        </p:nvSpPr>
        <p:spPr>
          <a:xfrm>
            <a:off x="914796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29%</a:t>
            </a:r>
            <a:endParaRPr sz="1700" b="1" i="0">
              <a:solidFill>
                <a:srgbClr val="FFFFFF"/>
              </a:solidFill>
              <a:latin typeface="Cambria" panose="02040503050406030204"/>
            </a:endParaRPr>
          </a:p>
        </p:txBody>
      </p:sp>
      <p:sp>
        <p:nvSpPr>
          <p:cNvPr id="16" name="TextBox 15"/>
          <p:cNvSpPr txBox="1"/>
          <p:nvPr/>
        </p:nvSpPr>
        <p:spPr>
          <a:xfrm>
            <a:off x="914796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Highest Delay Rate</a:t>
            </a:r>
            <a:endParaRPr sz="850" b="0" i="0">
              <a:solidFill>
                <a:srgbClr val="9FB7CB"/>
              </a:solidFill>
              <a:latin typeface="Calibri" panose="020F0502020204030204"/>
            </a:endParaRPr>
          </a:p>
        </p:txBody>
      </p:sp>
      <p:sp>
        <p:nvSpPr>
          <p:cNvPr id="17" name="TextBox 16"/>
          <p:cNvSpPr txBox="1"/>
          <p:nvPr/>
        </p:nvSpPr>
        <p:spPr>
          <a:xfrm>
            <a:off x="10221772" y="2020824"/>
            <a:ext cx="1000658"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11.6%</a:t>
            </a:r>
            <a:endParaRPr sz="1700" b="1" i="0">
              <a:solidFill>
                <a:srgbClr val="FFFFFF"/>
              </a:solidFill>
              <a:latin typeface="Cambria" panose="02040503050406030204"/>
            </a:endParaRPr>
          </a:p>
        </p:txBody>
      </p:sp>
      <p:sp>
        <p:nvSpPr>
          <p:cNvPr id="18" name="TextBox 17"/>
          <p:cNvSpPr txBox="1"/>
          <p:nvPr/>
        </p:nvSpPr>
        <p:spPr>
          <a:xfrm>
            <a:off x="10221772" y="2404872"/>
            <a:ext cx="1000658"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Highest Cancel Rate</a:t>
            </a:r>
            <a:endParaRPr sz="850" b="0" i="0">
              <a:solidFill>
                <a:srgbClr val="9FB7CB"/>
              </a:solidFill>
              <a:latin typeface="Calibri" panose="020F0502020204030204"/>
            </a:endParaRPr>
          </a:p>
        </p:txBody>
      </p:sp>
      <p:sp>
        <p:nvSpPr>
          <p:cNvPr id="19" name="Rounded Rectangle 18"/>
          <p:cNvSpPr/>
          <p:nvPr/>
        </p:nvSpPr>
        <p:spPr>
          <a:xfrm>
            <a:off x="8074152" y="2971800"/>
            <a:ext cx="3221431" cy="10972"/>
          </a:xfrm>
          <a:prstGeom prst="roundRect">
            <a:avLst>
              <a:gd name="adj" fmla="val 0"/>
            </a:avLst>
          </a:prstGeom>
          <a:solidFill>
            <a:srgbClr val="1E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3172968"/>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WHAT THIS PAGE SHOWS</a:t>
            </a:r>
            <a:endParaRPr sz="1050" b="1" i="0">
              <a:solidFill>
                <a:srgbClr val="F5A623"/>
              </a:solidFill>
              <a:latin typeface="Calibri" panose="020F0502020204030204"/>
            </a:endParaRPr>
          </a:p>
        </p:txBody>
      </p:sp>
      <p:sp>
        <p:nvSpPr>
          <p:cNvPr id="21" name="TextBox 20"/>
          <p:cNvSpPr txBox="1"/>
          <p:nvPr/>
        </p:nvSpPr>
        <p:spPr>
          <a:xfrm>
            <a:off x="8074152" y="3520440"/>
            <a:ext cx="3221431" cy="2331720"/>
          </a:xfrm>
          <a:prstGeom prst="rect">
            <a:avLst/>
          </a:prstGeom>
          <a:noFill/>
        </p:spPr>
        <p:txBody>
          <a:bodyPr wrap="square" lIns="0" tIns="0" rIns="0" bIns="0">
            <a:spAutoFit/>
          </a:bodyPr>
          <a:lstStyle/>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JetBlue (29%) and Frontier (27%) post the highest arrival-delay rates; Republic and Delta the lowest (19%).</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Southwest leads on-time performance at 85%, followed by United at 82%.</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PSA Airlines has the highest cancellation rate (11.6%); Allegiant the lowest (2.4%).</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The bubble chart ties delay, on-time rate and flight volume together for a full efficiency view.</a:t>
            </a:r>
            <a:endParaRPr sz="1000">
              <a:solidFill>
                <a:srgbClr val="9FB7CB"/>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B"/>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rot="2700000">
            <a:off x="640080" y="502920"/>
            <a:ext cx="457200" cy="457200"/>
          </a:xfrm>
          <a:prstGeom prst="rect">
            <a:avLst/>
          </a:prstGeom>
        </p:spPr>
      </p:pic>
      <p:sp>
        <p:nvSpPr>
          <p:cNvPr id="3" name="TextBox 2"/>
          <p:cNvSpPr txBox="1"/>
          <p:nvPr/>
        </p:nvSpPr>
        <p:spPr>
          <a:xfrm>
            <a:off x="1234440" y="438912"/>
            <a:ext cx="8686800" cy="594360"/>
          </a:xfrm>
          <a:prstGeom prst="rect">
            <a:avLst/>
          </a:prstGeom>
          <a:noFill/>
        </p:spPr>
        <p:txBody>
          <a:bodyPr wrap="square" lIns="0" tIns="0" rIns="0" bIns="0" anchor="ctr">
            <a:spAutoFit/>
          </a:bodyPr>
          <a:lstStyle/>
          <a:p>
            <a:pPr algn="l">
              <a:lnSpc>
                <a:spcPct val="100000"/>
              </a:lnSpc>
            </a:pPr>
            <a:r>
              <a:rPr sz="2800" b="1" i="0">
                <a:solidFill>
                  <a:srgbClr val="0A1F44"/>
                </a:solidFill>
                <a:latin typeface="Cambria" panose="02040503050406030204"/>
              </a:rPr>
              <a:t>Power BI Dashboard — Route &amp; Airport Analysis</a:t>
            </a:r>
            <a:endParaRPr sz="2800" b="1" i="0">
              <a:solidFill>
                <a:srgbClr val="0A1F44"/>
              </a:solidFill>
              <a:latin typeface="Cambria" panose="02040503050406030204"/>
            </a:endParaRPr>
          </a:p>
        </p:txBody>
      </p:sp>
      <p:sp>
        <p:nvSpPr>
          <p:cNvPr id="4" name="TextBox 3"/>
          <p:cNvSpPr txBox="1"/>
          <p:nvPr/>
        </p:nvSpPr>
        <p:spPr>
          <a:xfrm>
            <a:off x="1234440" y="960120"/>
            <a:ext cx="9875520" cy="320040"/>
          </a:xfrm>
          <a:prstGeom prst="rect">
            <a:avLst/>
          </a:prstGeom>
          <a:noFill/>
        </p:spPr>
        <p:txBody>
          <a:bodyPr wrap="square" lIns="0" tIns="0" rIns="0" bIns="0" anchor="t">
            <a:spAutoFit/>
          </a:bodyPr>
          <a:lstStyle/>
          <a:p>
            <a:pPr algn="l">
              <a:lnSpc>
                <a:spcPct val="100000"/>
              </a:lnSpc>
            </a:pPr>
            <a:r>
              <a:rPr sz="1250" b="0" i="1">
                <a:solidFill>
                  <a:srgbClr val="5B7285"/>
                </a:solidFill>
                <a:latin typeface="Calibri" panose="020F0502020204030204"/>
              </a:rPr>
              <a:t>Origins, destinations and route network</a:t>
            </a:r>
            <a:endParaRPr sz="1250" b="0" i="1">
              <a:solidFill>
                <a:srgbClr val="5B7285"/>
              </a:solidFill>
              <a:latin typeface="Calibri" panose="020F0502020204030204"/>
            </a:endParaRPr>
          </a:p>
        </p:txBody>
      </p:sp>
      <p:sp>
        <p:nvSpPr>
          <p:cNvPr id="5" name="Rounded Rectangle 4"/>
          <p:cNvSpPr/>
          <p:nvPr/>
        </p:nvSpPr>
        <p:spPr>
          <a:xfrm>
            <a:off x="640080" y="1417320"/>
            <a:ext cx="6903720" cy="4617720"/>
          </a:xfrm>
          <a:prstGeom prst="roundRect">
            <a:avLst>
              <a:gd name="adj" fmla="val 4000"/>
            </a:avLst>
          </a:prstGeom>
          <a:solidFill>
            <a:srgbClr val="FFFFFF"/>
          </a:solidFill>
          <a:ln w="12700">
            <a:solidFill>
              <a:srgbClr val="DCE6ED"/>
            </a:solidFill>
          </a:ln>
          <a:effectLst>
            <a:outerShdw blurRad="90000" dist="30000" dir="5400000" rotWithShape="0">
              <a:srgbClr val="9DB3C2">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1581912"/>
            <a:ext cx="118872" cy="118872"/>
          </a:xfrm>
          <a:prstGeom prst="ellipse">
            <a:avLst/>
          </a:prstGeom>
          <a:solidFill>
            <a:srgbClr val="F55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581912"/>
            <a:ext cx="118872" cy="1188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581912"/>
            <a:ext cx="118872" cy="118872"/>
          </a:xfrm>
          <a:prstGeom prst="ellipse">
            <a:avLst/>
          </a:prstGeom>
          <a:solidFill>
            <a:srgbClr val="3FC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517904"/>
            <a:ext cx="5806440" cy="256032"/>
          </a:xfrm>
          <a:prstGeom prst="rect">
            <a:avLst/>
          </a:prstGeom>
          <a:noFill/>
        </p:spPr>
        <p:txBody>
          <a:bodyPr wrap="square" lIns="0" tIns="0" rIns="0" bIns="0" anchor="t">
            <a:spAutoFit/>
          </a:bodyPr>
          <a:lstStyle/>
          <a:p>
            <a:pPr algn="l">
              <a:lnSpc>
                <a:spcPct val="100000"/>
              </a:lnSpc>
            </a:pPr>
            <a:r>
              <a:rPr sz="950" b="0" i="1">
                <a:solidFill>
                  <a:srgbClr val="5B7285"/>
                </a:solidFill>
                <a:latin typeface="Calibri" panose="020F0502020204030204"/>
              </a:rPr>
              <a:t>flight-operations-analytics.pbix — live view</a:t>
            </a:r>
            <a:endParaRPr sz="950" b="0" i="1">
              <a:solidFill>
                <a:srgbClr val="5B7285"/>
              </a:solidFill>
              <a:latin typeface="Calibri" panose="020F0502020204030204"/>
            </a:endParaRPr>
          </a:p>
        </p:txBody>
      </p:sp>
      <p:pic>
        <p:nvPicPr>
          <p:cNvPr id="10" name="Picture 9" descr="route.png"/>
          <p:cNvPicPr>
            <a:picLocks noChangeAspect="1"/>
          </p:cNvPicPr>
          <p:nvPr/>
        </p:nvPicPr>
        <p:blipFill>
          <a:blip r:embed="rId2"/>
          <a:stretch>
            <a:fillRect/>
          </a:stretch>
        </p:blipFill>
        <p:spPr>
          <a:xfrm>
            <a:off x="777239" y="1973211"/>
            <a:ext cx="6629400" cy="3771113"/>
          </a:xfrm>
          <a:prstGeom prst="rect">
            <a:avLst/>
          </a:prstGeom>
        </p:spPr>
      </p:pic>
      <p:sp>
        <p:nvSpPr>
          <p:cNvPr id="11" name="Rounded Rectangle 10"/>
          <p:cNvSpPr/>
          <p:nvPr/>
        </p:nvSpPr>
        <p:spPr>
          <a:xfrm>
            <a:off x="7818120" y="1417320"/>
            <a:ext cx="3733495" cy="4617720"/>
          </a:xfrm>
          <a:prstGeom prst="roundRect">
            <a:avLst>
              <a:gd name="adj" fmla="val 8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673352"/>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AT A GLANCE</a:t>
            </a:r>
            <a:endParaRPr sz="1050" b="1" i="0">
              <a:solidFill>
                <a:srgbClr val="F5A623"/>
              </a:solidFill>
              <a:latin typeface="Calibri" panose="020F0502020204030204"/>
            </a:endParaRPr>
          </a:p>
        </p:txBody>
      </p:sp>
      <p:sp>
        <p:nvSpPr>
          <p:cNvPr id="13" name="TextBox 12"/>
          <p:cNvSpPr txBox="1"/>
          <p:nvPr/>
        </p:nvSpPr>
        <p:spPr>
          <a:xfrm>
            <a:off x="8074152" y="2020824"/>
            <a:ext cx="1537563"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34%</a:t>
            </a:r>
            <a:endParaRPr sz="1700" b="1" i="0">
              <a:solidFill>
                <a:srgbClr val="FFFFFF"/>
              </a:solidFill>
              <a:latin typeface="Cambria" panose="02040503050406030204"/>
            </a:endParaRPr>
          </a:p>
        </p:txBody>
      </p:sp>
      <p:sp>
        <p:nvSpPr>
          <p:cNvPr id="14" name="TextBox 13"/>
          <p:cNvSpPr txBox="1"/>
          <p:nvPr/>
        </p:nvSpPr>
        <p:spPr>
          <a:xfrm>
            <a:off x="8074152" y="2404872"/>
            <a:ext cx="1537563"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Top State Delay Rate</a:t>
            </a:r>
            <a:endParaRPr sz="850" b="0" i="0">
              <a:solidFill>
                <a:srgbClr val="9FB7CB"/>
              </a:solidFill>
              <a:latin typeface="Calibri" panose="020F0502020204030204"/>
            </a:endParaRPr>
          </a:p>
        </p:txBody>
      </p:sp>
      <p:sp>
        <p:nvSpPr>
          <p:cNvPr id="15" name="TextBox 14"/>
          <p:cNvSpPr txBox="1"/>
          <p:nvPr/>
        </p:nvSpPr>
        <p:spPr>
          <a:xfrm>
            <a:off x="9684867" y="2020824"/>
            <a:ext cx="1537563" cy="384048"/>
          </a:xfrm>
          <a:prstGeom prst="rect">
            <a:avLst/>
          </a:prstGeom>
          <a:noFill/>
        </p:spPr>
        <p:txBody>
          <a:bodyPr wrap="square" lIns="0" tIns="0" rIns="0" bIns="0" anchor="t">
            <a:spAutoFit/>
          </a:bodyPr>
          <a:lstStyle/>
          <a:p>
            <a:pPr algn="l">
              <a:lnSpc>
                <a:spcPct val="100000"/>
              </a:lnSpc>
            </a:pPr>
            <a:r>
              <a:rPr sz="1700" b="1" i="0">
                <a:solidFill>
                  <a:srgbClr val="FFFFFF"/>
                </a:solidFill>
                <a:latin typeface="Cambria" panose="02040503050406030204"/>
              </a:rPr>
              <a:t>24.2K</a:t>
            </a:r>
            <a:endParaRPr sz="1700" b="1" i="0">
              <a:solidFill>
                <a:srgbClr val="FFFFFF"/>
              </a:solidFill>
              <a:latin typeface="Cambria" panose="02040503050406030204"/>
            </a:endParaRPr>
          </a:p>
        </p:txBody>
      </p:sp>
      <p:sp>
        <p:nvSpPr>
          <p:cNvPr id="16" name="TextBox 15"/>
          <p:cNvSpPr txBox="1"/>
          <p:nvPr/>
        </p:nvSpPr>
        <p:spPr>
          <a:xfrm>
            <a:off x="9684867" y="2404872"/>
            <a:ext cx="1537563" cy="457200"/>
          </a:xfrm>
          <a:prstGeom prst="rect">
            <a:avLst/>
          </a:prstGeom>
          <a:noFill/>
        </p:spPr>
        <p:txBody>
          <a:bodyPr wrap="square" lIns="0" tIns="0" rIns="0" bIns="0" anchor="t">
            <a:spAutoFit/>
          </a:bodyPr>
          <a:lstStyle/>
          <a:p>
            <a:pPr algn="l">
              <a:lnSpc>
                <a:spcPct val="105000"/>
              </a:lnSpc>
            </a:pPr>
            <a:r>
              <a:rPr sz="850" b="0" i="0">
                <a:solidFill>
                  <a:srgbClr val="9FB7CB"/>
                </a:solidFill>
                <a:latin typeface="Calibri" panose="020F0502020204030204"/>
              </a:rPr>
              <a:t>Busiest Airport (ORD)</a:t>
            </a:r>
            <a:endParaRPr sz="850" b="0" i="0">
              <a:solidFill>
                <a:srgbClr val="9FB7CB"/>
              </a:solidFill>
              <a:latin typeface="Calibri" panose="020F0502020204030204"/>
            </a:endParaRPr>
          </a:p>
        </p:txBody>
      </p:sp>
      <p:sp>
        <p:nvSpPr>
          <p:cNvPr id="17" name="Rounded Rectangle 16"/>
          <p:cNvSpPr/>
          <p:nvPr/>
        </p:nvSpPr>
        <p:spPr>
          <a:xfrm>
            <a:off x="8074152" y="2971800"/>
            <a:ext cx="3221431" cy="10972"/>
          </a:xfrm>
          <a:prstGeom prst="roundRect">
            <a:avLst>
              <a:gd name="adj" fmla="val 0"/>
            </a:avLst>
          </a:prstGeom>
          <a:solidFill>
            <a:srgbClr val="1E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3172968"/>
            <a:ext cx="3221431" cy="274320"/>
          </a:xfrm>
          <a:prstGeom prst="rect">
            <a:avLst/>
          </a:prstGeom>
          <a:noFill/>
        </p:spPr>
        <p:txBody>
          <a:bodyPr wrap="square" lIns="0" tIns="0" rIns="0" bIns="0" anchor="t">
            <a:spAutoFit/>
          </a:bodyPr>
          <a:lstStyle/>
          <a:p>
            <a:pPr algn="l">
              <a:lnSpc>
                <a:spcPct val="100000"/>
              </a:lnSpc>
            </a:pPr>
            <a:r>
              <a:rPr sz="1050" b="1" i="0">
                <a:solidFill>
                  <a:srgbClr val="F5A623"/>
                </a:solidFill>
                <a:latin typeface="Calibri" panose="020F0502020204030204"/>
              </a:rPr>
              <a:t>WHAT THIS PAGE SHOWS</a:t>
            </a:r>
            <a:endParaRPr sz="1050" b="1" i="0">
              <a:solidFill>
                <a:srgbClr val="F5A623"/>
              </a:solidFill>
              <a:latin typeface="Calibri" panose="020F0502020204030204"/>
            </a:endParaRPr>
          </a:p>
        </p:txBody>
      </p:sp>
      <p:sp>
        <p:nvSpPr>
          <p:cNvPr id="19" name="TextBox 18"/>
          <p:cNvSpPr txBox="1"/>
          <p:nvPr/>
        </p:nvSpPr>
        <p:spPr>
          <a:xfrm>
            <a:off x="8074152" y="3520440"/>
            <a:ext cx="3221431" cy="2331720"/>
          </a:xfrm>
          <a:prstGeom prst="rect">
            <a:avLst/>
          </a:prstGeom>
          <a:noFill/>
        </p:spPr>
        <p:txBody>
          <a:bodyPr wrap="square" lIns="0" tIns="0" rIns="0" bIns="0">
            <a:spAutoFit/>
          </a:bodyPr>
          <a:lstStyle/>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Several low-volume routes (e.g. ABE→BNA, AUS→CLE) show a 100% delay rate — small sample sizes worth flagging rather than raw ranking.</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Michigan (34%) and West Virginia (33%) top the states with the highest average arrival delay.</a:t>
            </a:r>
            <a:endParaRPr sz="1000">
              <a:solidFill>
                <a:srgbClr val="9FB7CB"/>
              </a:solidFill>
              <a:latin typeface="Calibri" panose="020F0502020204030204"/>
            </a:endParaRPr>
          </a:p>
          <a:p>
            <a:pPr marL="182880" indent="-182880">
              <a:lnSpc>
                <a:spcPct val="118000"/>
              </a:lnSpc>
              <a:spcAft>
                <a:spcPts val="800"/>
              </a:spcAft>
              <a:buClr>
                <a:srgbClr val="1C7293"/>
              </a:buClr>
              <a:buFont typeface="Arial" panose="020B0604020202020204"/>
              <a:buChar char="▪"/>
            </a:pPr>
            <a:r>
              <a:rPr sz="1000">
                <a:solidFill>
                  <a:srgbClr val="9FB7CB"/>
                </a:solidFill>
                <a:latin typeface="Calibri" panose="020F0502020204030204"/>
              </a:rPr>
              <a:t>Chicago O’Hare (24.2K), Denver (24.1K) and Atlanta (23.4K) are the busiest airports by total flights.</a:t>
            </a:r>
            <a:endParaRPr sz="1000">
              <a:solidFill>
                <a:srgbClr val="9FB7CB"/>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8214</Words>
  <Application>WPS Presentation</Application>
  <PresentationFormat>On-screen Show (16:9)</PresentationFormat>
  <Paragraphs>382</Paragraphs>
  <Slides>13</Slides>
  <Notes>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vt:i4>
      </vt:variant>
    </vt:vector>
  </HeadingPairs>
  <TitlesOfParts>
    <vt:vector size="31" baseType="lpstr">
      <vt:lpstr>Arial</vt:lpstr>
      <vt:lpstr>SimSun</vt:lpstr>
      <vt:lpstr>Wingdings</vt:lpstr>
      <vt:lpstr>Cambria</vt:lpstr>
      <vt:lpstr>Cambria</vt:lpstr>
      <vt:lpstr>Cambria</vt:lpstr>
      <vt:lpstr>Calibri</vt:lpstr>
      <vt:lpstr>Calibri</vt:lpstr>
      <vt:lpstr>Calibri</vt:lpstr>
      <vt:lpstr>Arial</vt:lpstr>
      <vt:lpstr>Courier New</vt:lpstr>
      <vt:lpstr>Courier New</vt:lpstr>
      <vt:lpstr>Courier New</vt:lpstr>
      <vt:lpstr>Cambria</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Mohanad Yasser</cp:lastModifiedBy>
  <cp:revision>3</cp:revision>
  <dcterms:created xsi:type="dcterms:W3CDTF">2026-09-10T21:03:00Z</dcterms:created>
  <dcterms:modified xsi:type="dcterms:W3CDTF">2026-09-12T10:40:16Z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824E94EA20B14F3DBB0F75FDD47AA51D_12</vt:lpwstr>
  </property>
  <property fmtid="{D5CDD505-2E9C-101B-9397-08002B2CF9AE}" pid="3" name="KSOProductBuildVer">
    <vt:lpwstr>1033-12.1.0.28485</vt:lpwstr>
  </property>
</Properties>
</file>